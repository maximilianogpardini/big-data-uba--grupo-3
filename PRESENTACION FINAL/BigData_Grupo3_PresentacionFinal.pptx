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ntonio Ultra-Bold" charset="1" panose="02000803000000000000"/>
      <p:regular r:id="rId17"/>
    </p:embeddedFont>
    <p:embeddedFont>
      <p:font typeface="Raleway Bold" charset="1" panose="00000000000000000000"/>
      <p:regular r:id="rId18"/>
    </p:embeddedFont>
    <p:embeddedFont>
      <p:font typeface="Raleway Bold Italics" charset="1" panose="00000000000000000000"/>
      <p:regular r:id="rId19"/>
    </p:embeddedFont>
    <p:embeddedFont>
      <p:font typeface="Raleway" charset="1" panose="00000000000000000000"/>
      <p:regular r:id="rId20"/>
    </p:embeddedFont>
    <p:embeddedFont>
      <p:font typeface="Raleway Italics" charset="1" panose="00000000000000000000"/>
      <p:regular r:id="rId21"/>
    </p:embeddedFont>
    <p:embeddedFont>
      <p:font typeface="Antonio Bold" charset="1" panose="02000803000000000000"/>
      <p:regular r:id="rId22"/>
    </p:embeddedFont>
    <p:embeddedFont>
      <p:font typeface="Antonio" charset="1" panose="02000503000000000000"/>
      <p:regular r:id="rId23"/>
    </p:embeddedFont>
    <p:embeddedFont>
      <p:font typeface="Open Sans Bold" charset="1" panose="020B0806030504020204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1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Relationship Id="rId4" Target="../media/image12.pn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png" Type="http://schemas.openxmlformats.org/officeDocument/2006/relationships/image"/><Relationship Id="rId4" Target="../media/image19.png" Type="http://schemas.openxmlformats.org/officeDocument/2006/relationships/image"/><Relationship Id="rId5" Target="../media/image2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125" t="0" r="-6899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47688" y="7559695"/>
            <a:ext cx="17192625" cy="2727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600"/>
              </a:lnSpc>
              <a:spcBef>
                <a:spcPct val="0"/>
              </a:spcBef>
            </a:pPr>
            <a:r>
              <a:rPr lang="en-US" b="true" sz="20000" spc="740">
                <a:solidFill>
                  <a:srgbClr val="FFFFFF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RENOVAR 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845391" y="1998966"/>
            <a:ext cx="9951970" cy="15810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4503" spc="9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¿El Programa RENOVAR se focaliza en provincias </a:t>
            </a:r>
            <a:r>
              <a:rPr lang="en-US" b="true" sz="4503" i="true" spc="90">
                <a:solidFill>
                  <a:srgbClr val="FFFFFF"/>
                </a:solidFill>
                <a:latin typeface="Raleway Bold Italics"/>
                <a:ea typeface="Raleway Bold Italics"/>
                <a:cs typeface="Raleway Bold Italics"/>
                <a:sym typeface="Raleway Bold Italics"/>
              </a:rPr>
              <a:t>vulnerables</a:t>
            </a:r>
            <a:r>
              <a:rPr lang="en-US" sz="4503" spc="9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?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213859" y="770327"/>
            <a:ext cx="3045441" cy="45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42"/>
              </a:lnSpc>
              <a:spcBef>
                <a:spcPct val="0"/>
              </a:spcBef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10.12.2025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090809" y="0"/>
            <a:ext cx="5152419" cy="10287000"/>
            <a:chOff x="0" y="0"/>
            <a:chExt cx="885148" cy="1767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85148" cy="1767232"/>
            </a:xfrm>
            <a:custGeom>
              <a:avLst/>
              <a:gdLst/>
              <a:ahLst/>
              <a:cxnLst/>
              <a:rect r="r" b="b" t="t" l="l"/>
              <a:pathLst>
                <a:path h="1767232" w="885148">
                  <a:moveTo>
                    <a:pt x="0" y="0"/>
                  </a:moveTo>
                  <a:lnTo>
                    <a:pt x="885148" y="0"/>
                  </a:lnTo>
                  <a:lnTo>
                    <a:pt x="885148" y="1767232"/>
                  </a:lnTo>
                  <a:lnTo>
                    <a:pt x="0" y="1767232"/>
                  </a:lnTo>
                  <a:close/>
                </a:path>
              </a:pathLst>
            </a:custGeom>
            <a:blipFill>
              <a:blip r:embed="rId2"/>
              <a:stretch>
                <a:fillRect l="-1183" t="0" r="-1183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0" y="-25246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5569" t="0" r="-472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225510" y="736650"/>
            <a:ext cx="7677952" cy="8560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  <a:r>
              <a:rPr lang="en-US" sz="2709" spc="54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📊</a:t>
            </a:r>
            <a:r>
              <a:rPr lang="en-US" b="true" sz="2709" spc="54" strike="noStrike" u="non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 </a:t>
            </a:r>
            <a:r>
              <a:rPr lang="en-US" b="true" sz="2709" spc="54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Base de Datos Construida (2017-2019)</a:t>
            </a:r>
          </a:p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  <a:r>
              <a:rPr lang="en-US" b="true" sz="2709" spc="54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Unidad de Análisis:</a:t>
            </a: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Provincia – Trimestre</a:t>
            </a:r>
          </a:p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  <a:r>
              <a:rPr lang="en-US" b="true" sz="2709" spc="54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Volumen:</a:t>
            </a: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N=240 Observaciones</a:t>
            </a:r>
          </a:p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  <a:r>
              <a:rPr lang="en-US" b="true" sz="2709" spc="54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Fuentes</a:t>
            </a: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:</a:t>
            </a:r>
          </a:p>
          <a:p>
            <a:pPr algn="l" marL="584922" indent="-292461" lvl="1">
              <a:lnSpc>
                <a:spcPts val="3792"/>
              </a:lnSpc>
              <a:spcBef>
                <a:spcPct val="0"/>
              </a:spcBef>
              <a:buFont typeface="Arial"/>
              <a:buChar char="•"/>
            </a:pP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Programa RENOVAR y Nivel de Empleo Departamental (Para definir el Tratamiento)</a:t>
            </a:r>
          </a:p>
          <a:p>
            <a:pPr algn="l" marL="584922" indent="-292461" lvl="1">
              <a:lnSpc>
                <a:spcPts val="3792"/>
              </a:lnSpc>
              <a:spcBef>
                <a:spcPct val="0"/>
              </a:spcBef>
              <a:buFont typeface="Arial"/>
              <a:buChar char="•"/>
            </a:pP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Encuesta Permanente de Hogares (EPH) (Para variables de Ingreso y Demografía)</a:t>
            </a:r>
          </a:p>
          <a:p>
            <a:pPr algn="l" marL="584922" indent="-292461" lvl="1">
              <a:lnSpc>
                <a:spcPts val="3792"/>
              </a:lnSpc>
              <a:spcBef>
                <a:spcPct val="0"/>
              </a:spcBef>
              <a:buFont typeface="Arial"/>
              <a:buChar char="•"/>
            </a:pP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Canasta Básica de INDEC y Adultos Equivalentes (Para cálculo de Pobreza)</a:t>
            </a:r>
          </a:p>
          <a:p>
            <a:pPr algn="l">
              <a:lnSpc>
                <a:spcPts val="3792"/>
              </a:lnSpc>
              <a:spcBef>
                <a:spcPct val="0"/>
              </a:spcBef>
            </a:pPr>
          </a:p>
          <a:p>
            <a:pPr algn="l">
              <a:lnSpc>
                <a:spcPts val="3792"/>
              </a:lnSpc>
              <a:spcBef>
                <a:spcPct val="0"/>
              </a:spcBef>
            </a:pPr>
            <a:r>
              <a:rPr lang="en-US" b="true" sz="2709" spc="54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📊 Contexto de la Muestra</a:t>
            </a:r>
          </a:p>
          <a:p>
            <a:pPr algn="l" marL="584922" indent="-292461" lvl="1">
              <a:lnSpc>
                <a:spcPts val="3792"/>
              </a:lnSpc>
              <a:spcBef>
                <a:spcPct val="0"/>
              </a:spcBef>
              <a:buFont typeface="Arial"/>
              <a:buChar char="•"/>
            </a:pP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8% de la población analizada es pobre</a:t>
            </a:r>
          </a:p>
          <a:p>
            <a:pPr algn="l" marL="584922" indent="-292461" lvl="1">
              <a:lnSpc>
                <a:spcPts val="3792"/>
              </a:lnSpc>
              <a:spcBef>
                <a:spcPct val="0"/>
              </a:spcBef>
              <a:buFont typeface="Arial"/>
              <a:buChar char="•"/>
            </a:pPr>
            <a:r>
              <a:rPr lang="en-US" sz="2709" spc="54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82% provincias tratadas</a:t>
            </a:r>
          </a:p>
          <a:p>
            <a:pPr algn="l" marL="0" indent="0" lvl="0">
              <a:lnSpc>
                <a:spcPts val="379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1576" y="5682035"/>
            <a:ext cx="7185351" cy="2303561"/>
          </a:xfrm>
          <a:custGeom>
            <a:avLst/>
            <a:gdLst/>
            <a:ahLst/>
            <a:cxnLst/>
            <a:rect r="r" b="b" t="t" l="l"/>
            <a:pathLst>
              <a:path h="2303561" w="7185351">
                <a:moveTo>
                  <a:pt x="0" y="0"/>
                </a:moveTo>
                <a:lnTo>
                  <a:pt x="7185351" y="0"/>
                </a:lnTo>
                <a:lnTo>
                  <a:pt x="7185351" y="2303561"/>
                </a:lnTo>
                <a:lnTo>
                  <a:pt x="0" y="230356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57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99642" y="1384350"/>
            <a:ext cx="8759658" cy="7890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  <a:r>
              <a:rPr lang="en-US" b="true" sz="2503" spc="50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Obj</a:t>
            </a:r>
            <a:r>
              <a:rPr lang="en-US" b="true" sz="2503" spc="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etivo: </a:t>
            </a: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Analizar la </a:t>
            </a:r>
            <a:r>
              <a:rPr lang="en-US" sz="2503" i="true" spc="50" strike="noStrike" u="none">
                <a:solidFill>
                  <a:srgbClr val="000000"/>
                </a:solidFill>
                <a:latin typeface="Raleway Italics"/>
                <a:ea typeface="Raleway Italics"/>
                <a:cs typeface="Raleway Italics"/>
                <a:sym typeface="Raleway Italics"/>
              </a:rPr>
              <a:t>asociación</a:t>
            </a: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de variables socioeconómicas con la probabilidad de que una provincia sea tratada.</a:t>
            </a: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Interpretación de coeficientes </a:t>
            </a:r>
            <a:r>
              <a:rPr lang="en-US" b="true" sz="2503" spc="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(β)</a:t>
            </a: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  <a:r>
              <a:rPr lang="en-US" b="true" sz="2503" spc="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β &gt; 0:</a:t>
            </a: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Aumenta la probabilidad de recibir el tratamiento.</a:t>
            </a: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  <a:r>
              <a:rPr lang="en-US" b="true" sz="2503" spc="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β &lt; 0: </a:t>
            </a: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Disminuye la probabilidad de recibir el tratamiento.</a:t>
            </a: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  <a:r>
              <a:rPr lang="en-US" b="true" sz="2503" spc="50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Variables predictoras (X):</a:t>
            </a:r>
          </a:p>
          <a:p>
            <a:pPr algn="l" marL="540600" indent="-270300" lvl="1">
              <a:lnSpc>
                <a:spcPts val="3505"/>
              </a:lnSpc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Empleo promedio</a:t>
            </a:r>
          </a:p>
          <a:p>
            <a:pPr algn="l" marL="540600" indent="-270300" lvl="1">
              <a:lnSpc>
                <a:spcPts val="3505"/>
              </a:lnSpc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Salario promedio</a:t>
            </a:r>
          </a:p>
          <a:p>
            <a:pPr algn="l" marL="540600" indent="-270300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Edad promedio</a:t>
            </a:r>
          </a:p>
          <a:p>
            <a:pPr algn="l" marL="540600" indent="-270300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Proporción de mujeres</a:t>
            </a:r>
          </a:p>
          <a:p>
            <a:pPr algn="l" marL="540600" indent="-270300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Ingreso per cápita familiar</a:t>
            </a:r>
          </a:p>
          <a:p>
            <a:pPr algn="l" marL="540600" indent="-270300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Nivel educativo</a:t>
            </a:r>
          </a:p>
          <a:p>
            <a:pPr algn="l" marL="540600" indent="-270300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Proporción de alfabetos</a:t>
            </a:r>
          </a:p>
          <a:p>
            <a:pPr algn="l" marL="540600" indent="-270300" lvl="1">
              <a:lnSpc>
                <a:spcPts val="3505"/>
              </a:lnSpc>
              <a:spcBef>
                <a:spcPct val="0"/>
              </a:spcBef>
              <a:buFont typeface="Arial"/>
              <a:buChar char="•"/>
            </a:pPr>
            <a:r>
              <a:rPr lang="en-US" sz="2503" spc="50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Proporción de jefes de hogar e hijos</a:t>
            </a:r>
          </a:p>
          <a:p>
            <a:pPr algn="l" marL="0" indent="0" lvl="0">
              <a:lnSpc>
                <a:spcPts val="3505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30077"/>
            <a:ext cx="6611103" cy="158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4503" spc="9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Regresión logística </a:t>
            </a:r>
          </a:p>
          <a:p>
            <a:pPr algn="l">
              <a:lnSpc>
                <a:spcPts val="6305"/>
              </a:lnSpc>
            </a:pPr>
            <a:r>
              <a:rPr lang="en-US" sz="4503" spc="90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MODELO LOGIT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7535525"/>
            <a:ext cx="5909372" cy="45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spc="242" u="sng">
                <a:solidFill>
                  <a:srgbClr val="D80814"/>
                </a:solidFill>
                <a:latin typeface="Raleway"/>
                <a:ea typeface="Raleway"/>
                <a:cs typeface="Raleway"/>
                <a:sym typeface="Raleway"/>
              </a:rPr>
              <a:t>                                                 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-25246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5569" t="0" r="-4725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2206" y="4206139"/>
            <a:ext cx="7097598" cy="3815357"/>
          </a:xfrm>
          <a:custGeom>
            <a:avLst/>
            <a:gdLst/>
            <a:ahLst/>
            <a:cxnLst/>
            <a:rect r="r" b="b" t="t" l="l"/>
            <a:pathLst>
              <a:path h="3815357" w="7097598">
                <a:moveTo>
                  <a:pt x="0" y="0"/>
                </a:moveTo>
                <a:lnTo>
                  <a:pt x="7097597" y="0"/>
                </a:lnTo>
                <a:lnTo>
                  <a:pt x="7097597" y="3815357"/>
                </a:lnTo>
                <a:lnTo>
                  <a:pt x="0" y="381535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-908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39804" y="1139423"/>
            <a:ext cx="8819496" cy="71209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7"/>
              </a:lnSpc>
            </a:pP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pc="47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</a:t>
            </a:r>
            <a:r>
              <a:rPr lang="en-US" b="true" sz="2398" spc="47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ecanismo y ventaja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Random Forest es un algoritmo de Machine Learning que opera sobre un conjunto de árboles de decisión.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sz="2398" spc="47" strike="noStrike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Objetivo:</a:t>
            </a:r>
            <a:r>
              <a:rPr lang="en-US" sz="2398" spc="47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Mejorar la predicción general.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 spc="47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Funcionamiento: </a:t>
            </a:r>
          </a:p>
          <a:p>
            <a:pPr algn="l" marL="517767" indent="-258883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500 árboles de decisión → cada uno vota →</a:t>
            </a: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predicción final por mayorí</a:t>
            </a: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a.</a:t>
            </a:r>
          </a:p>
          <a:p>
            <a:pPr algn="l" marL="517767" indent="-258883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Submuestras aleatorias = menor sobreajuste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</a:p>
          <a:p>
            <a:pPr algn="l">
              <a:lnSpc>
                <a:spcPts val="3357"/>
              </a:lnSpc>
              <a:spcBef>
                <a:spcPct val="0"/>
              </a:spcBef>
            </a:pPr>
            <a:r>
              <a:rPr lang="en-US" b="true" sz="2398" spc="47" strike="noStrike" u="non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Ventaja fundamental</a:t>
            </a:r>
          </a:p>
          <a:p>
            <a:pPr algn="l" marL="517767" indent="-258883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</a:t>
            </a: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educe el sobreajuste</a:t>
            </a:r>
          </a:p>
          <a:p>
            <a:pPr algn="l" marL="517767" indent="-258883" lvl="1">
              <a:lnSpc>
                <a:spcPts val="3357"/>
              </a:lnSpc>
              <a:spcBef>
                <a:spcPct val="0"/>
              </a:spcBef>
              <a:buFont typeface="Arial"/>
              <a:buChar char="•"/>
            </a:pP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Ca</a:t>
            </a:r>
            <a:r>
              <a:rPr lang="en-US" sz="2398" spc="47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ptura no-linealidades e interacciones complejas que el Logit no puede modelar.</a:t>
            </a:r>
          </a:p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1630077"/>
            <a:ext cx="6611103" cy="15810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05"/>
              </a:lnSpc>
            </a:pPr>
            <a:r>
              <a:rPr lang="en-US" sz="4503" spc="9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Modelo predictivo </a:t>
            </a:r>
          </a:p>
          <a:p>
            <a:pPr algn="l">
              <a:lnSpc>
                <a:spcPts val="6305"/>
              </a:lnSpc>
            </a:pPr>
            <a:r>
              <a:rPr lang="en-US" sz="4503" spc="90" u="sng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RANDOM FOREST</a:t>
            </a:r>
            <a:r>
              <a:rPr lang="en-US" sz="4503" spc="90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-237167" y="8385903"/>
            <a:ext cx="5909372" cy="45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spc="242" u="sng">
                <a:solidFill>
                  <a:srgbClr val="D80814"/>
                </a:solidFill>
                <a:latin typeface="Raleway"/>
                <a:ea typeface="Raleway"/>
                <a:cs typeface="Raleway"/>
                <a:sym typeface="Raleway"/>
              </a:rPr>
              <a:t>                                                  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0" y="-25246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5569" t="0" r="-4725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4846463" y="9398719"/>
            <a:ext cx="3045441" cy="450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542"/>
              </a:lnSpc>
              <a:spcBef>
                <a:spcPct val="0"/>
              </a:spcBef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15.10.2030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1800294" y="3506591"/>
          <a:ext cx="14267153" cy="6150501"/>
        </p:xfrm>
        <a:graphic>
          <a:graphicData uri="http://schemas.openxmlformats.org/drawingml/2006/table">
            <a:tbl>
              <a:tblPr/>
              <a:tblGrid>
                <a:gridCol w="4541835"/>
                <a:gridCol w="4541835"/>
                <a:gridCol w="5183484"/>
              </a:tblGrid>
              <a:tr h="90627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Antonio Bold"/>
                          <a:ea typeface="Antonio Bold"/>
                          <a:cs typeface="Antonio Bold"/>
                          <a:sym typeface="Antonio Bold"/>
                        </a:rPr>
                        <a:t>Logit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Categoría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 b="true">
                          <a:solidFill>
                            <a:srgbClr val="000000"/>
                          </a:solidFill>
                          <a:latin typeface="Antonio Bold"/>
                          <a:ea typeface="Antonio Bold"/>
                          <a:cs typeface="Antonio Bold"/>
                          <a:sym typeface="Antonio Bold"/>
                        </a:rPr>
                        <a:t>Random Forest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030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Entender la estructura de asociaciones</a:t>
                      </a:r>
                      <a:endParaRPr lang="en-US" sz="1100"/>
                    </a:p>
                    <a:p>
                      <a:pPr algn="ctr">
                        <a:lnSpc>
                          <a:spcPts val="36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Uso estratégico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Mejorar predicción y detectar patrones complejos</a:t>
                      </a:r>
                      <a:endParaRPr lang="en-US" sz="1100"/>
                    </a:p>
                    <a:p>
                      <a:pPr algn="ctr">
                        <a:lnSpc>
                          <a:spcPts val="36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767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Interpretación económica clara: dirección e impacto de variables</a:t>
                      </a:r>
                      <a:endParaRPr lang="en-US" sz="1100"/>
                    </a:p>
                    <a:p>
                      <a:pPr algn="ctr">
                        <a:lnSpc>
                          <a:spcPts val="36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Ventaja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Captura relaciones no lineales y patrones complejos</a:t>
                      </a:r>
                      <a:endParaRPr lang="en-US" sz="1100"/>
                    </a:p>
                    <a:p>
                      <a:pPr algn="ctr">
                        <a:lnSpc>
                          <a:spcPts val="36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3623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Supone linealidad; sensible a colinealidad</a:t>
                      </a:r>
                      <a:endParaRPr lang="en-US" sz="1100"/>
                    </a:p>
                    <a:p>
                      <a:pPr algn="ctr">
                        <a:lnSpc>
                          <a:spcPts val="36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Desventaja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640"/>
                        </a:lnSpc>
                        <a:defRPr/>
                      </a:pPr>
                      <a:r>
                        <a:rPr lang="en-US" sz="2600">
                          <a:solidFill>
                            <a:srgbClr val="000000"/>
                          </a:solidFill>
                          <a:latin typeface="Antonio"/>
                          <a:ea typeface="Antonio"/>
                          <a:cs typeface="Antonio"/>
                          <a:sym typeface="Antonio"/>
                        </a:rPr>
                        <a:t>“Caja negra”: difícil explicación causal</a:t>
                      </a:r>
                      <a:endParaRPr lang="en-US" sz="1100"/>
                    </a:p>
                    <a:p>
                      <a:pPr algn="ctr">
                        <a:lnSpc>
                          <a:spcPts val="3640"/>
                        </a:lnSpc>
                      </a:pP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4" id="4"/>
          <p:cNvSpPr/>
          <p:nvPr/>
        </p:nvSpPr>
        <p:spPr>
          <a:xfrm flipH="false" flipV="false" rot="0">
            <a:off x="11798463" y="1300446"/>
            <a:ext cx="3163019" cy="2008846"/>
          </a:xfrm>
          <a:custGeom>
            <a:avLst/>
            <a:gdLst/>
            <a:ahLst/>
            <a:cxnLst/>
            <a:rect r="r" b="b" t="t" l="l"/>
            <a:pathLst>
              <a:path h="2008846" w="3163019">
                <a:moveTo>
                  <a:pt x="0" y="0"/>
                </a:moveTo>
                <a:lnTo>
                  <a:pt x="3163018" y="0"/>
                </a:lnTo>
                <a:lnTo>
                  <a:pt x="3163018" y="2008846"/>
                </a:lnTo>
                <a:lnTo>
                  <a:pt x="0" y="200884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7824801" y="1731423"/>
            <a:ext cx="1577869" cy="1577869"/>
          </a:xfrm>
          <a:custGeom>
            <a:avLst/>
            <a:gdLst/>
            <a:ahLst/>
            <a:cxnLst/>
            <a:rect r="r" b="b" t="t" l="l"/>
            <a:pathLst>
              <a:path h="1577869" w="1577869">
                <a:moveTo>
                  <a:pt x="0" y="0"/>
                </a:moveTo>
                <a:lnTo>
                  <a:pt x="1577869" y="0"/>
                </a:lnTo>
                <a:lnTo>
                  <a:pt x="1577869" y="1577869"/>
                </a:lnTo>
                <a:lnTo>
                  <a:pt x="0" y="15778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14" t="-2429" r="-1214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90997" y="617486"/>
            <a:ext cx="7287163" cy="1687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515"/>
              </a:lnSpc>
            </a:pPr>
            <a:r>
              <a:rPr lang="en-US" b="true" sz="6325" spc="234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COMPLEMENTARIEDAD </a:t>
            </a:r>
          </a:p>
          <a:p>
            <a:pPr algn="just" marL="0" indent="0" lvl="0">
              <a:lnSpc>
                <a:spcPts val="6515"/>
              </a:lnSpc>
              <a:spcBef>
                <a:spcPct val="0"/>
              </a:spcBef>
            </a:pPr>
            <a:r>
              <a:rPr lang="en-US" b="true" sz="6325" spc="234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DE MODELOS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-25246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-5569" t="0" r="-4725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44253" y="2384116"/>
            <a:ext cx="7461230" cy="6043216"/>
          </a:xfrm>
          <a:custGeom>
            <a:avLst/>
            <a:gdLst/>
            <a:ahLst/>
            <a:cxnLst/>
            <a:rect r="r" b="b" t="t" l="l"/>
            <a:pathLst>
              <a:path h="6043216" w="7461230">
                <a:moveTo>
                  <a:pt x="0" y="0"/>
                </a:moveTo>
                <a:lnTo>
                  <a:pt x="7461230" y="0"/>
                </a:lnTo>
                <a:lnTo>
                  <a:pt x="7461230" y="6043216"/>
                </a:lnTo>
                <a:lnTo>
                  <a:pt x="0" y="604321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733734" y="464953"/>
            <a:ext cx="4543498" cy="1279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00"/>
              </a:lnSpc>
              <a:spcBef>
                <a:spcPct val="0"/>
              </a:spcBef>
            </a:pPr>
            <a:r>
              <a:rPr lang="en-US" b="true" sz="9417" spc="348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LOGIT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549435" y="2509967"/>
            <a:ext cx="7709865" cy="570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•Bu</a:t>
            </a: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en ajuste general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•Pseudo R² ≈ 0,46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•Mayor probabilidad de tratamiento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•Provincias con mayor edad promedio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•Menor probabilidad de tratamiento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•Provincias con más empleo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</p:txBody>
      </p:sp>
      <p:sp>
        <p:nvSpPr>
          <p:cNvPr name="Freeform 5" id="5"/>
          <p:cNvSpPr/>
          <p:nvPr/>
        </p:nvSpPr>
        <p:spPr>
          <a:xfrm flipH="false" flipV="false" rot="30000">
            <a:off x="-44647" y="-104845"/>
            <a:ext cx="18377294" cy="10471444"/>
          </a:xfrm>
          <a:custGeom>
            <a:avLst/>
            <a:gdLst/>
            <a:ahLst/>
            <a:cxnLst/>
            <a:rect r="r" b="b" t="t" l="l"/>
            <a:pathLst>
              <a:path h="10471444" w="18377294">
                <a:moveTo>
                  <a:pt x="0" y="159591"/>
                </a:moveTo>
                <a:lnTo>
                  <a:pt x="18287304" y="0"/>
                </a:lnTo>
                <a:lnTo>
                  <a:pt x="18377294" y="10311853"/>
                </a:lnTo>
                <a:lnTo>
                  <a:pt x="89990" y="10471444"/>
                </a:lnTo>
                <a:lnTo>
                  <a:pt x="0" y="159591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7467" t="-25" r="-5203" b="-1067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380891" y="2255846"/>
            <a:ext cx="8101530" cy="6501228"/>
          </a:xfrm>
          <a:custGeom>
            <a:avLst/>
            <a:gdLst/>
            <a:ahLst/>
            <a:cxnLst/>
            <a:rect r="r" b="b" t="t" l="l"/>
            <a:pathLst>
              <a:path h="6501228" w="8101530">
                <a:moveTo>
                  <a:pt x="0" y="0"/>
                </a:moveTo>
                <a:lnTo>
                  <a:pt x="8101530" y="0"/>
                </a:lnTo>
                <a:lnTo>
                  <a:pt x="8101530" y="6501228"/>
                </a:lnTo>
                <a:lnTo>
                  <a:pt x="0" y="65012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9999"/>
            </a:blip>
            <a:stretch>
              <a:fillRect l="-5569" t="0" r="-4725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78413" y="455112"/>
            <a:ext cx="3540375" cy="1778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863"/>
              </a:lnSpc>
              <a:spcBef>
                <a:spcPct val="0"/>
              </a:spcBef>
            </a:pPr>
            <a:r>
              <a:rPr lang="en-US" b="true" sz="6663" spc="246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RANDOM FOREST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71026" y="2586647"/>
            <a:ext cx="7709865" cy="5706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•D</a:t>
            </a: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esempeño en test 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•Accuracy ≈ 93%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•AUC ≈ 0,98 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•Variables más importantes: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•Mercado laboral / ingreso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  <a:r>
              <a:rPr lang="en-US" sz="2964" spc="59" strike="noStrike" u="non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•Capital educativo</a:t>
            </a: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  <a:p>
            <a:pPr algn="l" marL="0" indent="0" lvl="0">
              <a:lnSpc>
                <a:spcPts val="414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60608" y="1799505"/>
            <a:ext cx="6635611" cy="5345111"/>
          </a:xfrm>
          <a:custGeom>
            <a:avLst/>
            <a:gdLst/>
            <a:ahLst/>
            <a:cxnLst/>
            <a:rect r="r" b="b" t="t" l="l"/>
            <a:pathLst>
              <a:path h="5345111" w="6635611">
                <a:moveTo>
                  <a:pt x="0" y="0"/>
                </a:moveTo>
                <a:lnTo>
                  <a:pt x="6635611" y="0"/>
                </a:lnTo>
                <a:lnTo>
                  <a:pt x="6635611" y="5345111"/>
                </a:lnTo>
                <a:lnTo>
                  <a:pt x="0" y="53451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71383" y="1799505"/>
            <a:ext cx="6626891" cy="5345111"/>
          </a:xfrm>
          <a:custGeom>
            <a:avLst/>
            <a:gdLst/>
            <a:ahLst/>
            <a:cxnLst/>
            <a:rect r="r" b="b" t="t" l="l"/>
            <a:pathLst>
              <a:path h="5345111" w="6626891">
                <a:moveTo>
                  <a:pt x="0" y="0"/>
                </a:moveTo>
                <a:lnTo>
                  <a:pt x="6626891" y="0"/>
                </a:lnTo>
                <a:lnTo>
                  <a:pt x="6626891" y="5345111"/>
                </a:lnTo>
                <a:lnTo>
                  <a:pt x="0" y="534511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778413" y="407487"/>
            <a:ext cx="4724813" cy="15335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3670" spc="135">
                <a:solidFill>
                  <a:srgbClr val="000000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MATRICES DE CONFUSIÓN Y CRITERIO DE POLÍTICA</a:t>
            </a:r>
          </a:p>
          <a:p>
            <a:pPr algn="l" marL="0" indent="0" lvl="0">
              <a:lnSpc>
                <a:spcPts val="4398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30304" y="7487345"/>
            <a:ext cx="7096219" cy="12907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7"/>
              </a:lnSpc>
              <a:spcBef>
                <a:spcPct val="0"/>
              </a:spcBef>
            </a:pPr>
            <a:r>
              <a:rPr lang="en-US" sz="2434" spc="233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logit tiende a tener menos falsos positivos, pero a costa de un recall menor en tratadas.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868300" y="7326838"/>
            <a:ext cx="5408152" cy="28548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7"/>
              </a:lnSpc>
              <a:spcBef>
                <a:spcPct val="0"/>
              </a:spcBef>
            </a:pPr>
            <a:r>
              <a:rPr lang="en-US" sz="2355" spc="2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Como</a:t>
            </a:r>
            <a:r>
              <a:rPr lang="en-US" sz="2355" spc="226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organismo estatal, es más costoso dejar afuera una provincia que debería recibir el programa (falso negativo) que incluir alguna de más (falso positivo).</a:t>
            </a:r>
          </a:p>
          <a:p>
            <a:pPr algn="ctr">
              <a:lnSpc>
                <a:spcPts val="3297"/>
              </a:lnSpc>
              <a:spcBef>
                <a:spcPct val="0"/>
              </a:spcBef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0" y="-25246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</a:blip>
            <a:stretch>
              <a:fillRect l="-5569" t="0" r="-4725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5569" t="0" r="-472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2000" y="2636832"/>
            <a:ext cx="1752457" cy="1752457"/>
          </a:xfrm>
          <a:custGeom>
            <a:avLst/>
            <a:gdLst/>
            <a:ahLst/>
            <a:cxnLst/>
            <a:rect r="r" b="b" t="t" l="l"/>
            <a:pathLst>
              <a:path h="1752457" w="1752457">
                <a:moveTo>
                  <a:pt x="0" y="0"/>
                </a:moveTo>
                <a:lnTo>
                  <a:pt x="1752457" y="0"/>
                </a:lnTo>
                <a:lnTo>
                  <a:pt x="1752457" y="1752457"/>
                </a:lnTo>
                <a:lnTo>
                  <a:pt x="0" y="17524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0298" y="2636832"/>
            <a:ext cx="1593004" cy="1593004"/>
          </a:xfrm>
          <a:custGeom>
            <a:avLst/>
            <a:gdLst/>
            <a:ahLst/>
            <a:cxnLst/>
            <a:rect r="r" b="b" t="t" l="l"/>
            <a:pathLst>
              <a:path h="1593004" w="1593004">
                <a:moveTo>
                  <a:pt x="0" y="0"/>
                </a:moveTo>
                <a:lnTo>
                  <a:pt x="1593004" y="0"/>
                </a:lnTo>
                <a:lnTo>
                  <a:pt x="1593004" y="1593004"/>
                </a:lnTo>
                <a:lnTo>
                  <a:pt x="0" y="15930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028700" y="5990919"/>
            <a:ext cx="1888389" cy="1888389"/>
          </a:xfrm>
          <a:custGeom>
            <a:avLst/>
            <a:gdLst/>
            <a:ahLst/>
            <a:cxnLst/>
            <a:rect r="r" b="b" t="t" l="l"/>
            <a:pathLst>
              <a:path h="1888389" w="1888389">
                <a:moveTo>
                  <a:pt x="0" y="0"/>
                </a:moveTo>
                <a:lnTo>
                  <a:pt x="1888389" y="0"/>
                </a:lnTo>
                <a:lnTo>
                  <a:pt x="1888389" y="1888390"/>
                </a:lnTo>
                <a:lnTo>
                  <a:pt x="0" y="188839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9556286" y="5990919"/>
            <a:ext cx="1767015" cy="1767015"/>
          </a:xfrm>
          <a:custGeom>
            <a:avLst/>
            <a:gdLst/>
            <a:ahLst/>
            <a:cxnLst/>
            <a:rect r="r" b="b" t="t" l="l"/>
            <a:pathLst>
              <a:path h="1767015" w="1767015">
                <a:moveTo>
                  <a:pt x="0" y="0"/>
                </a:moveTo>
                <a:lnTo>
                  <a:pt x="1767016" y="0"/>
                </a:lnTo>
                <a:lnTo>
                  <a:pt x="1767016" y="1767016"/>
                </a:lnTo>
                <a:lnTo>
                  <a:pt x="0" y="17670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736010" y="644916"/>
            <a:ext cx="14815979" cy="1127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40"/>
              </a:lnSpc>
            </a:pPr>
            <a:r>
              <a:rPr lang="en-US" sz="66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Síntesis de hallazgos y aprendizajes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59100" y="2570157"/>
            <a:ext cx="6184900" cy="1819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22"/>
              </a:lnSpc>
            </a:pPr>
            <a:r>
              <a:rPr lang="en-US" b="true" sz="2730" spc="26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1. ALTA CAPACIDAD PREDICTIVA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AMBOS MODELOS LOGRAN PREDECIR 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bien la asignación del programa,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 pesar de la muestra limitada.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412737" y="2570157"/>
            <a:ext cx="5667692" cy="224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2.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TRADE OFF ENTRE MODELOS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Ramdom Forest ofrece métricas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superiores, pero a costa de la 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interpretabilidad que provee el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Logit.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59100" y="5924244"/>
            <a:ext cx="6184900" cy="31361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3. PRINCIPALES PREDICTORES</a:t>
            </a:r>
          </a:p>
          <a:p>
            <a:pPr algn="l">
              <a:lnSpc>
                <a:spcPts val="3542"/>
              </a:lnSpc>
            </a:pPr>
            <a:r>
              <a:rPr lang="en-US" sz="2530" spc="242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Logit: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El </a:t>
            </a:r>
            <a:r>
              <a:rPr lang="en-US" sz="2530" spc="242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empleo promedio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y </a:t>
            </a:r>
            <a:r>
              <a:rPr lang="en-US" sz="2530" spc="242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la edad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-US" sz="2530" spc="242" b="true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promedio 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son los factores</a:t>
            </a:r>
          </a:p>
          <a:p>
            <a:pPr algn="l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más claros  y directos.</a:t>
            </a:r>
          </a:p>
          <a:p>
            <a:pPr algn="l">
              <a:lnSpc>
                <a:spcPts val="3542"/>
              </a:lnSpc>
              <a:spcBef>
                <a:spcPct val="0"/>
              </a:spcBef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Random Forest: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Confirma la importancia del </a:t>
            </a: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mercado laboral 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y el </a:t>
            </a: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capital educativo.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323302" y="5933769"/>
            <a:ext cx="5846563" cy="213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40"/>
              </a:lnSpc>
            </a:pPr>
            <a:r>
              <a:rPr lang="en-US" b="true" sz="2457" spc="235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4. DESAFÍOS OPERATIVOS</a:t>
            </a:r>
          </a:p>
          <a:p>
            <a:pPr algn="just">
              <a:lnSpc>
                <a:spcPts val="3440"/>
              </a:lnSpc>
            </a:pPr>
            <a:r>
              <a:rPr lang="en-US" sz="2457" spc="23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EL MANEJO DE DISTINTAS BASES DE</a:t>
            </a:r>
          </a:p>
          <a:p>
            <a:pPr algn="just">
              <a:lnSpc>
                <a:spcPts val="3440"/>
              </a:lnSpc>
              <a:spcBef>
                <a:spcPct val="0"/>
              </a:spcBef>
            </a:pPr>
            <a:r>
              <a:rPr lang="en-US" sz="2457" spc="235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datos y el desbalance entre clases son retos importantes en el análisis.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782955" y="723150"/>
            <a:ext cx="16722090" cy="828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60"/>
              </a:lnSpc>
            </a:pPr>
            <a:r>
              <a:rPr lang="en-US" sz="4900" b="true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Reflexiones finales y nuevos caminos de investigación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8288000" cy="10312246"/>
          </a:xfrm>
          <a:custGeom>
            <a:avLst/>
            <a:gdLst/>
            <a:ahLst/>
            <a:cxnLst/>
            <a:rect r="r" b="b" t="t" l="l"/>
            <a:pathLst>
              <a:path h="10312246" w="18288000">
                <a:moveTo>
                  <a:pt x="0" y="0"/>
                </a:moveTo>
                <a:lnTo>
                  <a:pt x="18288000" y="0"/>
                </a:lnTo>
                <a:lnTo>
                  <a:pt x="18288000" y="10312246"/>
                </a:lnTo>
                <a:lnTo>
                  <a:pt x="0" y="103122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</a:blip>
            <a:stretch>
              <a:fillRect l="-5569" t="0" r="-472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2410507" y="1711830"/>
            <a:ext cx="1501792" cy="1501792"/>
          </a:xfrm>
          <a:custGeom>
            <a:avLst/>
            <a:gdLst/>
            <a:ahLst/>
            <a:cxnLst/>
            <a:rect r="r" b="b" t="t" l="l"/>
            <a:pathLst>
              <a:path h="1501792" w="1501792">
                <a:moveTo>
                  <a:pt x="0" y="0"/>
                </a:moveTo>
                <a:lnTo>
                  <a:pt x="1501791" y="0"/>
                </a:lnTo>
                <a:lnTo>
                  <a:pt x="1501791" y="1501792"/>
                </a:lnTo>
                <a:lnTo>
                  <a:pt x="0" y="150179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2213493" y="7231705"/>
            <a:ext cx="1895818" cy="1895818"/>
          </a:xfrm>
          <a:custGeom>
            <a:avLst/>
            <a:gdLst/>
            <a:ahLst/>
            <a:cxnLst/>
            <a:rect r="r" b="b" t="t" l="l"/>
            <a:pathLst>
              <a:path h="1895818" w="1895818">
                <a:moveTo>
                  <a:pt x="0" y="0"/>
                </a:moveTo>
                <a:lnTo>
                  <a:pt x="1895819" y="0"/>
                </a:lnTo>
                <a:lnTo>
                  <a:pt x="1895819" y="1895818"/>
                </a:lnTo>
                <a:lnTo>
                  <a:pt x="0" y="189581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48195" y="1869937"/>
            <a:ext cx="1504325" cy="1504325"/>
          </a:xfrm>
          <a:custGeom>
            <a:avLst/>
            <a:gdLst/>
            <a:ahLst/>
            <a:cxnLst/>
            <a:rect r="r" b="b" t="t" l="l"/>
            <a:pathLst>
              <a:path h="1504325" w="1504325">
                <a:moveTo>
                  <a:pt x="0" y="0"/>
                </a:moveTo>
                <a:lnTo>
                  <a:pt x="1504325" y="0"/>
                </a:lnTo>
                <a:lnTo>
                  <a:pt x="1504325" y="1504325"/>
                </a:lnTo>
                <a:lnTo>
                  <a:pt x="0" y="150432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782955" y="3307587"/>
            <a:ext cx="8034805" cy="224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ENTENDER FACTORES PASADOS</a:t>
            </a:r>
          </a:p>
          <a:p>
            <a:pPr algn="ctr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(Logit)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Para entender los factores históricos 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de asignación, la interpretabilidad del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Logit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es invaluable.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0" y="3307587"/>
            <a:ext cx="8034805" cy="4031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DISEÑAR FUTURAS INTERVENCIONES</a:t>
            </a:r>
          </a:p>
          <a:p>
            <a:pPr algn="ctr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(Random Forest)</a:t>
            </a:r>
          </a:p>
          <a:p>
            <a:pPr algn="ctr">
              <a:lnSpc>
                <a:spcPts val="3542"/>
              </a:lnSpc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Para diseñar una focalización futura que priorice la inclusion de poblaciones vulnerables, la potencia predictiva de </a:t>
            </a: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Random Forest,</a:t>
            </a: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 orientada a reducir  los falsos negativos, es la herramienta estratégica.</a:t>
            </a:r>
          </a:p>
          <a:p>
            <a:pPr algn="ctr">
              <a:lnSpc>
                <a:spcPts val="3542"/>
              </a:lnSpc>
              <a:spcBef>
                <a:spcPct val="0"/>
              </a:spcBef>
            </a:pPr>
          </a:p>
        </p:txBody>
      </p:sp>
      <p:sp>
        <p:nvSpPr>
          <p:cNvPr name="TextBox 9" id="9"/>
          <p:cNvSpPr txBox="true"/>
          <p:nvPr/>
        </p:nvSpPr>
        <p:spPr>
          <a:xfrm rot="0">
            <a:off x="1104423" y="7691484"/>
            <a:ext cx="16154877" cy="22407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42"/>
              </a:lnSpc>
            </a:pPr>
            <a:r>
              <a:rPr lang="en-US" b="true" sz="2530" spc="242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POSIBLES EXTENSIONES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AUMENTAR EL TAMAÑO DE LA MUESTRA.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Mejorar el tratamiento de los datos de EPH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Incluir nuevos predictores de otras fuentes para captar más dimensiones de asignación.</a:t>
            </a:r>
          </a:p>
          <a:p>
            <a:pPr algn="l" marL="546364" indent="-273182" lvl="1">
              <a:lnSpc>
                <a:spcPts val="3542"/>
              </a:lnSpc>
              <a:buFont typeface="Arial"/>
              <a:buChar char="•"/>
            </a:pPr>
            <a:r>
              <a:rPr lang="en-US" sz="2530" spc="242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rPr>
              <a:t>Incorporar otros algoritmos o distintas configuraciones de hiperparámetros.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82653" y="0"/>
            <a:ext cx="18370653" cy="10287000"/>
          </a:xfrm>
          <a:custGeom>
            <a:avLst/>
            <a:gdLst/>
            <a:ahLst/>
            <a:cxnLst/>
            <a:rect r="r" b="b" t="t" l="l"/>
            <a:pathLst>
              <a:path h="10287000" w="18370653">
                <a:moveTo>
                  <a:pt x="0" y="0"/>
                </a:moveTo>
                <a:lnTo>
                  <a:pt x="18370653" y="0"/>
                </a:lnTo>
                <a:lnTo>
                  <a:pt x="1837065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0000"/>
            </a:blip>
            <a:stretch>
              <a:fillRect l="-4530" t="0" r="-4999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102673" y="4562004"/>
            <a:ext cx="7232858" cy="4696296"/>
            <a:chOff x="0" y="0"/>
            <a:chExt cx="1904950" cy="123688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04950" cy="1236885"/>
            </a:xfrm>
            <a:custGeom>
              <a:avLst/>
              <a:gdLst/>
              <a:ahLst/>
              <a:cxnLst/>
              <a:rect r="r" b="b" t="t" l="l"/>
              <a:pathLst>
                <a:path h="1236885" w="1904950">
                  <a:moveTo>
                    <a:pt x="0" y="0"/>
                  </a:moveTo>
                  <a:lnTo>
                    <a:pt x="1904950" y="0"/>
                  </a:lnTo>
                  <a:lnTo>
                    <a:pt x="1904950" y="1236885"/>
                  </a:lnTo>
                  <a:lnTo>
                    <a:pt x="0" y="1236885"/>
                  </a:lnTo>
                  <a:close/>
                </a:path>
              </a:pathLst>
            </a:custGeom>
            <a:solidFill>
              <a:srgbClr val="000000">
                <a:alpha val="8588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66675"/>
              <a:ext cx="1904950" cy="13035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42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1543577" y="977016"/>
            <a:ext cx="2710600" cy="3584988"/>
          </a:xfrm>
          <a:custGeom>
            <a:avLst/>
            <a:gdLst/>
            <a:ahLst/>
            <a:cxnLst/>
            <a:rect r="r" b="b" t="t" l="l"/>
            <a:pathLst>
              <a:path h="3584988" w="2710600">
                <a:moveTo>
                  <a:pt x="0" y="0"/>
                </a:moveTo>
                <a:lnTo>
                  <a:pt x="2710600" y="0"/>
                </a:lnTo>
                <a:lnTo>
                  <a:pt x="2710600" y="3584988"/>
                </a:lnTo>
                <a:lnTo>
                  <a:pt x="0" y="358498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843253" y="1153006"/>
            <a:ext cx="2870959" cy="3590305"/>
          </a:xfrm>
          <a:custGeom>
            <a:avLst/>
            <a:gdLst/>
            <a:ahLst/>
            <a:cxnLst/>
            <a:rect r="r" b="b" t="t" l="l"/>
            <a:pathLst>
              <a:path h="3590305" w="2870959">
                <a:moveTo>
                  <a:pt x="0" y="0"/>
                </a:moveTo>
                <a:lnTo>
                  <a:pt x="2870959" y="0"/>
                </a:lnTo>
                <a:lnTo>
                  <a:pt x="2870959" y="3590305"/>
                </a:lnTo>
                <a:lnTo>
                  <a:pt x="0" y="359030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8110910" y="333402"/>
            <a:ext cx="3547069" cy="4228601"/>
          </a:xfrm>
          <a:custGeom>
            <a:avLst/>
            <a:gdLst/>
            <a:ahLst/>
            <a:cxnLst/>
            <a:rect r="r" b="b" t="t" l="l"/>
            <a:pathLst>
              <a:path h="4228601" w="3547069">
                <a:moveTo>
                  <a:pt x="0" y="0"/>
                </a:moveTo>
                <a:lnTo>
                  <a:pt x="3547069" y="0"/>
                </a:lnTo>
                <a:lnTo>
                  <a:pt x="3547069" y="4228602"/>
                </a:lnTo>
                <a:lnTo>
                  <a:pt x="0" y="422860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386713" y="3746810"/>
            <a:ext cx="6361237" cy="29743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486"/>
              </a:lnSpc>
            </a:pPr>
            <a:r>
              <a:rPr lang="en-US" sz="11151" spc="412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¡MUCHAS</a:t>
            </a:r>
          </a:p>
          <a:p>
            <a:pPr algn="l" marL="0" indent="0" lvl="0">
              <a:lnSpc>
                <a:spcPts val="11486"/>
              </a:lnSpc>
              <a:spcBef>
                <a:spcPct val="0"/>
              </a:spcBef>
            </a:pPr>
            <a:r>
              <a:rPr lang="en-US" sz="11151" spc="412">
                <a:solidFill>
                  <a:srgbClr val="FFFFFF"/>
                </a:solidFill>
                <a:latin typeface="Antonio"/>
                <a:ea typeface="Antonio"/>
                <a:cs typeface="Antonio"/>
                <a:sym typeface="Antonio"/>
              </a:rPr>
              <a:t>GRACIAS!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75891" y="4881163"/>
            <a:ext cx="7783409" cy="39532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2500" spc="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Alumnos: </a:t>
            </a:r>
          </a:p>
          <a:p>
            <a:pPr algn="l" marL="1079509" indent="-359836" lvl="2">
              <a:lnSpc>
                <a:spcPts val="3900"/>
              </a:lnSpc>
              <a:buFont typeface="Arial"/>
              <a:buChar char="⚬"/>
            </a:pPr>
            <a:r>
              <a:rPr lang="en-US" sz="2500" spc="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Manuel Humberto Meza Palma</a:t>
            </a:r>
          </a:p>
          <a:p>
            <a:pPr algn="l" marL="1079509" indent="-359836" lvl="2">
              <a:lnSpc>
                <a:spcPts val="3900"/>
              </a:lnSpc>
              <a:buFont typeface="Arial"/>
              <a:buChar char="⚬"/>
            </a:pPr>
            <a:r>
              <a:rPr lang="en-US" sz="2500" spc="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Federico Kostzer</a:t>
            </a:r>
          </a:p>
          <a:p>
            <a:pPr algn="l" marL="1079509" indent="-359836" lvl="2">
              <a:lnSpc>
                <a:spcPts val="3900"/>
              </a:lnSpc>
              <a:buFont typeface="Arial"/>
              <a:buChar char="⚬"/>
            </a:pPr>
            <a:r>
              <a:rPr lang="en-US" sz="2500" spc="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Maximiliano G. Pardini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500" spc="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Docente: María Noelia Romero.</a:t>
            </a:r>
          </a:p>
          <a:p>
            <a:pPr algn="l">
              <a:lnSpc>
                <a:spcPts val="3900"/>
              </a:lnSpc>
            </a:pPr>
          </a:p>
          <a:p>
            <a:pPr algn="l">
              <a:lnSpc>
                <a:spcPts val="3900"/>
              </a:lnSpc>
            </a:pPr>
            <a:r>
              <a:rPr lang="en-US" sz="2500" spc="50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Taller de Programación - Grupo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DAG7DTX_P0I</dc:identifier>
  <dcterms:modified xsi:type="dcterms:W3CDTF">2011-08-01T06:04:30Z</dcterms:modified>
  <cp:revision>1</cp:revision>
  <dc:title>BigData_Grupo3_PresentacionFinal</dc:title>
</cp:coreProperties>
</file>