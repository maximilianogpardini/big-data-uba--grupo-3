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4" r:id="rId3"/>
    <p:sldId id="276" r:id="rId4"/>
    <p:sldId id="275" r:id="rId5"/>
    <p:sldId id="273" r:id="rId6"/>
    <p:sldId id="277" r:id="rId7"/>
    <p:sldId id="27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8842C6-CE07-461D-AC05-00581CA8864F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D9C654-CD8A-4B01-BD76-C927AAF8196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ES" dirty="0"/>
            <a:t>Análisis de empleo total y por sectores económicos.
</a:t>
          </a:r>
          <a:endParaRPr lang="en-US" dirty="0"/>
        </a:p>
      </dgm:t>
    </dgm:pt>
    <dgm:pt modelId="{70F96415-D975-4AAE-BD72-E6238632612E}" type="parTrans" cxnId="{8DC401AC-8084-46A9-9593-7F6B564FDC95}">
      <dgm:prSet/>
      <dgm:spPr/>
      <dgm:t>
        <a:bodyPr/>
        <a:lstStyle/>
        <a:p>
          <a:endParaRPr lang="en-US"/>
        </a:p>
      </dgm:t>
    </dgm:pt>
    <dgm:pt modelId="{8B833C51-A7A4-4E90-9DE0-8B862DB7CE41}" type="sibTrans" cxnId="{8DC401AC-8084-46A9-9593-7F6B564FDC95}">
      <dgm:prSet/>
      <dgm:spPr/>
      <dgm:t>
        <a:bodyPr/>
        <a:lstStyle/>
        <a:p>
          <a:endParaRPr lang="en-US"/>
        </a:p>
      </dgm:t>
    </dgm:pt>
    <dgm:pt modelId="{4B5B4790-22AF-44F9-B0AD-16793F2AB7CE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s-ES" dirty="0"/>
            <a:t>Potencia instalada según tecnología: solar, eólica y biomasa.
</a:t>
          </a:r>
          <a:endParaRPr lang="en-US" dirty="0"/>
        </a:p>
      </dgm:t>
    </dgm:pt>
    <dgm:pt modelId="{F611304A-2A67-4D71-8F0C-BC770444B10E}" type="parTrans" cxnId="{EDDFA9C2-1708-4C2B-99FC-24F008641FCB}">
      <dgm:prSet/>
      <dgm:spPr/>
      <dgm:t>
        <a:bodyPr/>
        <a:lstStyle/>
        <a:p>
          <a:endParaRPr lang="en-US"/>
        </a:p>
      </dgm:t>
    </dgm:pt>
    <dgm:pt modelId="{F449B39D-9499-4685-8E2D-8C0C383F7801}" type="sibTrans" cxnId="{EDDFA9C2-1708-4C2B-99FC-24F008641FCB}">
      <dgm:prSet/>
      <dgm:spPr/>
      <dgm:t>
        <a:bodyPr/>
        <a:lstStyle/>
        <a:p>
          <a:endParaRPr lang="en-US"/>
        </a:p>
      </dgm:t>
    </dgm:pt>
    <dgm:pt modelId="{8051FB28-0155-426F-9D6A-08BE2AFC4474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s-ES" dirty="0"/>
            <a:t>Estudio de la densidad poblacional y estructura productiva.
</a:t>
          </a:r>
          <a:endParaRPr lang="en-US" dirty="0"/>
        </a:p>
      </dgm:t>
    </dgm:pt>
    <dgm:pt modelId="{FC41E14A-4552-42B2-964B-2357854F3437}" type="parTrans" cxnId="{7FB6A671-7AC9-4856-9B6A-91038646A21D}">
      <dgm:prSet/>
      <dgm:spPr/>
      <dgm:t>
        <a:bodyPr/>
        <a:lstStyle/>
        <a:p>
          <a:endParaRPr lang="en-US"/>
        </a:p>
      </dgm:t>
    </dgm:pt>
    <dgm:pt modelId="{43C161BC-DF0D-4007-BAC4-2CBE5D7BB6C7}" type="sibTrans" cxnId="{7FB6A671-7AC9-4856-9B6A-91038646A21D}">
      <dgm:prSet/>
      <dgm:spPr/>
      <dgm:t>
        <a:bodyPr/>
        <a:lstStyle/>
        <a:p>
          <a:endParaRPr lang="en-US"/>
        </a:p>
      </dgm:t>
    </dgm:pt>
    <dgm:pt modelId="{BF015E29-CCBD-4E31-995D-146DFB996E7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ES" dirty="0"/>
            <a:t>Seguimiento del empleo tras procesos de adjudicación.
</a:t>
          </a:r>
          <a:endParaRPr lang="en-US" dirty="0"/>
        </a:p>
      </dgm:t>
    </dgm:pt>
    <dgm:pt modelId="{28213719-8D61-4F8B-90E8-0C4FF8219E10}" type="parTrans" cxnId="{F6C8CBD4-CA28-4D30-B6AD-6279DBDC373E}">
      <dgm:prSet/>
      <dgm:spPr/>
      <dgm:t>
        <a:bodyPr/>
        <a:lstStyle/>
        <a:p>
          <a:endParaRPr lang="en-US"/>
        </a:p>
      </dgm:t>
    </dgm:pt>
    <dgm:pt modelId="{B0D2DCAF-6237-47F7-8B92-3A195DC82F26}" type="sibTrans" cxnId="{F6C8CBD4-CA28-4D30-B6AD-6279DBDC373E}">
      <dgm:prSet/>
      <dgm:spPr/>
      <dgm:t>
        <a:bodyPr/>
        <a:lstStyle/>
        <a:p>
          <a:endParaRPr lang="en-US"/>
        </a:p>
      </dgm:t>
    </dgm:pt>
    <dgm:pt modelId="{09B5BCDA-37DA-4F1A-A793-8BB9ECF80C51}" type="pres">
      <dgm:prSet presAssocID="{E98842C6-CE07-461D-AC05-00581CA8864F}" presName="diagram" presStyleCnt="0">
        <dgm:presLayoutVars>
          <dgm:dir/>
          <dgm:resizeHandles val="exact"/>
        </dgm:presLayoutVars>
      </dgm:prSet>
      <dgm:spPr/>
    </dgm:pt>
    <dgm:pt modelId="{ECAFBDE3-7926-4A5C-9681-B05EED73495F}" type="pres">
      <dgm:prSet presAssocID="{47D9C654-CD8A-4B01-BD76-C927AAF8196F}" presName="node" presStyleLbl="node1" presStyleIdx="0" presStyleCnt="4">
        <dgm:presLayoutVars>
          <dgm:bulletEnabled val="1"/>
        </dgm:presLayoutVars>
      </dgm:prSet>
      <dgm:spPr/>
    </dgm:pt>
    <dgm:pt modelId="{0F497B2D-E7A3-4E7B-ACCA-AD9C2572D78D}" type="pres">
      <dgm:prSet presAssocID="{8B833C51-A7A4-4E90-9DE0-8B862DB7CE41}" presName="sibTrans" presStyleCnt="0"/>
      <dgm:spPr/>
    </dgm:pt>
    <dgm:pt modelId="{A88D0889-B0F4-4095-8286-37E9657E192C}" type="pres">
      <dgm:prSet presAssocID="{4B5B4790-22AF-44F9-B0AD-16793F2AB7CE}" presName="node" presStyleLbl="node1" presStyleIdx="1" presStyleCnt="4">
        <dgm:presLayoutVars>
          <dgm:bulletEnabled val="1"/>
        </dgm:presLayoutVars>
      </dgm:prSet>
      <dgm:spPr/>
    </dgm:pt>
    <dgm:pt modelId="{EF68075D-CBE7-405C-ADCB-483E949719EC}" type="pres">
      <dgm:prSet presAssocID="{F449B39D-9499-4685-8E2D-8C0C383F7801}" presName="sibTrans" presStyleCnt="0"/>
      <dgm:spPr/>
    </dgm:pt>
    <dgm:pt modelId="{BBA699EA-72DD-4B65-8606-A07E4B936650}" type="pres">
      <dgm:prSet presAssocID="{8051FB28-0155-426F-9D6A-08BE2AFC4474}" presName="node" presStyleLbl="node1" presStyleIdx="2" presStyleCnt="4">
        <dgm:presLayoutVars>
          <dgm:bulletEnabled val="1"/>
        </dgm:presLayoutVars>
      </dgm:prSet>
      <dgm:spPr/>
    </dgm:pt>
    <dgm:pt modelId="{ACE8712D-34D3-4331-BAC1-1817693C6BA1}" type="pres">
      <dgm:prSet presAssocID="{43C161BC-DF0D-4007-BAC4-2CBE5D7BB6C7}" presName="sibTrans" presStyleCnt="0"/>
      <dgm:spPr/>
    </dgm:pt>
    <dgm:pt modelId="{F72C9B82-3C8A-4AC7-BBEB-9867AE38AFC1}" type="pres">
      <dgm:prSet presAssocID="{BF015E29-CCBD-4E31-995D-146DFB996E79}" presName="node" presStyleLbl="node1" presStyleIdx="3" presStyleCnt="4">
        <dgm:presLayoutVars>
          <dgm:bulletEnabled val="1"/>
        </dgm:presLayoutVars>
      </dgm:prSet>
      <dgm:spPr/>
    </dgm:pt>
  </dgm:ptLst>
  <dgm:cxnLst>
    <dgm:cxn modelId="{53AC492F-7642-4F23-9A1A-209B2F06BAA4}" type="presOf" srcId="{E98842C6-CE07-461D-AC05-00581CA8864F}" destId="{09B5BCDA-37DA-4F1A-A793-8BB9ECF80C51}" srcOrd="0" destOrd="0" presId="urn:microsoft.com/office/officeart/2005/8/layout/default"/>
    <dgm:cxn modelId="{7FB6A671-7AC9-4856-9B6A-91038646A21D}" srcId="{E98842C6-CE07-461D-AC05-00581CA8864F}" destId="{8051FB28-0155-426F-9D6A-08BE2AFC4474}" srcOrd="2" destOrd="0" parTransId="{FC41E14A-4552-42B2-964B-2357854F3437}" sibTransId="{43C161BC-DF0D-4007-BAC4-2CBE5D7BB6C7}"/>
    <dgm:cxn modelId="{D908B097-21A5-4F32-8382-0FCCE887D3E1}" type="presOf" srcId="{47D9C654-CD8A-4B01-BD76-C927AAF8196F}" destId="{ECAFBDE3-7926-4A5C-9681-B05EED73495F}" srcOrd="0" destOrd="0" presId="urn:microsoft.com/office/officeart/2005/8/layout/default"/>
    <dgm:cxn modelId="{8DC401AC-8084-46A9-9593-7F6B564FDC95}" srcId="{E98842C6-CE07-461D-AC05-00581CA8864F}" destId="{47D9C654-CD8A-4B01-BD76-C927AAF8196F}" srcOrd="0" destOrd="0" parTransId="{70F96415-D975-4AAE-BD72-E6238632612E}" sibTransId="{8B833C51-A7A4-4E90-9DE0-8B862DB7CE41}"/>
    <dgm:cxn modelId="{12A52DC2-873C-44A2-ACBA-A7D97B79CFDB}" type="presOf" srcId="{8051FB28-0155-426F-9D6A-08BE2AFC4474}" destId="{BBA699EA-72DD-4B65-8606-A07E4B936650}" srcOrd="0" destOrd="0" presId="urn:microsoft.com/office/officeart/2005/8/layout/default"/>
    <dgm:cxn modelId="{EDDFA9C2-1708-4C2B-99FC-24F008641FCB}" srcId="{E98842C6-CE07-461D-AC05-00581CA8864F}" destId="{4B5B4790-22AF-44F9-B0AD-16793F2AB7CE}" srcOrd="1" destOrd="0" parTransId="{F611304A-2A67-4D71-8F0C-BC770444B10E}" sibTransId="{F449B39D-9499-4685-8E2D-8C0C383F7801}"/>
    <dgm:cxn modelId="{F6C8CBD4-CA28-4D30-B6AD-6279DBDC373E}" srcId="{E98842C6-CE07-461D-AC05-00581CA8864F}" destId="{BF015E29-CCBD-4E31-995D-146DFB996E79}" srcOrd="3" destOrd="0" parTransId="{28213719-8D61-4F8B-90E8-0C4FF8219E10}" sibTransId="{B0D2DCAF-6237-47F7-8B92-3A195DC82F26}"/>
    <dgm:cxn modelId="{477DABDF-4071-4EBE-B0DC-93EF8571509F}" type="presOf" srcId="{4B5B4790-22AF-44F9-B0AD-16793F2AB7CE}" destId="{A88D0889-B0F4-4095-8286-37E9657E192C}" srcOrd="0" destOrd="0" presId="urn:microsoft.com/office/officeart/2005/8/layout/default"/>
    <dgm:cxn modelId="{03836FE2-0859-40D4-B84D-3A446FF391C3}" type="presOf" srcId="{BF015E29-CCBD-4E31-995D-146DFB996E79}" destId="{F72C9B82-3C8A-4AC7-BBEB-9867AE38AFC1}" srcOrd="0" destOrd="0" presId="urn:microsoft.com/office/officeart/2005/8/layout/default"/>
    <dgm:cxn modelId="{D0EA99D2-DB25-4172-912B-A5F2160565C5}" type="presParOf" srcId="{09B5BCDA-37DA-4F1A-A793-8BB9ECF80C51}" destId="{ECAFBDE3-7926-4A5C-9681-B05EED73495F}" srcOrd="0" destOrd="0" presId="urn:microsoft.com/office/officeart/2005/8/layout/default"/>
    <dgm:cxn modelId="{5FAA98EF-748D-47D3-968C-092ED40C5BD4}" type="presParOf" srcId="{09B5BCDA-37DA-4F1A-A793-8BB9ECF80C51}" destId="{0F497B2D-E7A3-4E7B-ACCA-AD9C2572D78D}" srcOrd="1" destOrd="0" presId="urn:microsoft.com/office/officeart/2005/8/layout/default"/>
    <dgm:cxn modelId="{8175AF1D-28B7-47CE-95DC-4F5D2421D3C2}" type="presParOf" srcId="{09B5BCDA-37DA-4F1A-A793-8BB9ECF80C51}" destId="{A88D0889-B0F4-4095-8286-37E9657E192C}" srcOrd="2" destOrd="0" presId="urn:microsoft.com/office/officeart/2005/8/layout/default"/>
    <dgm:cxn modelId="{BCF99068-9DA8-40AF-BBCD-B34F20786CA4}" type="presParOf" srcId="{09B5BCDA-37DA-4F1A-A793-8BB9ECF80C51}" destId="{EF68075D-CBE7-405C-ADCB-483E949719EC}" srcOrd="3" destOrd="0" presId="urn:microsoft.com/office/officeart/2005/8/layout/default"/>
    <dgm:cxn modelId="{F4F175DB-0115-47C2-9DE0-FFF84B3D84B7}" type="presParOf" srcId="{09B5BCDA-37DA-4F1A-A793-8BB9ECF80C51}" destId="{BBA699EA-72DD-4B65-8606-A07E4B936650}" srcOrd="4" destOrd="0" presId="urn:microsoft.com/office/officeart/2005/8/layout/default"/>
    <dgm:cxn modelId="{84EC611A-8998-4458-8A85-FD519FB43AB7}" type="presParOf" srcId="{09B5BCDA-37DA-4F1A-A793-8BB9ECF80C51}" destId="{ACE8712D-34D3-4331-BAC1-1817693C6BA1}" srcOrd="5" destOrd="0" presId="urn:microsoft.com/office/officeart/2005/8/layout/default"/>
    <dgm:cxn modelId="{4C337F95-FFD3-4794-9551-7A123F489F15}" type="presParOf" srcId="{09B5BCDA-37DA-4F1A-A793-8BB9ECF80C51}" destId="{F72C9B82-3C8A-4AC7-BBEB-9867AE38AFC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AC5F3C-8757-4613-926B-8C545662C97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CC19CCD-1DAD-4FB6-90A6-88874477319D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s-ES" b="1"/>
            <a:t>🔹 PCA + Clúster:</a:t>
          </a:r>
          <a:br>
            <a:rPr lang="es-ES"/>
          </a:br>
          <a:r>
            <a:rPr lang="es-ES"/>
            <a:t>Permiten identificar </a:t>
          </a:r>
          <a:r>
            <a:rPr lang="es-ES" b="1"/>
            <a:t>patrones regionales</a:t>
          </a:r>
          <a:r>
            <a:rPr lang="es-ES"/>
            <a:t> de empleo y agrupar departamentos con perfiles similares según niveles salariales, sectores y dinámica laboral.</a:t>
          </a:r>
          <a:br>
            <a:rPr lang="es-ES"/>
          </a:br>
          <a:r>
            <a:rPr lang="es-ES"/>
            <a:t>🗺️ </a:t>
          </a:r>
          <a:r>
            <a:rPr lang="es-ES" i="1"/>
            <a:t>Visualización clara de regiones con alta o baja especialización en empleo renovable.</a:t>
          </a:r>
          <a:endParaRPr lang="en-US"/>
        </a:p>
      </dgm:t>
    </dgm:pt>
    <dgm:pt modelId="{DC25C7AC-04E6-4069-A9D8-994FEFB66008}" type="parTrans" cxnId="{B9D42145-0A98-45AA-B962-A58570347BE6}">
      <dgm:prSet/>
      <dgm:spPr/>
      <dgm:t>
        <a:bodyPr/>
        <a:lstStyle/>
        <a:p>
          <a:endParaRPr lang="en-US"/>
        </a:p>
      </dgm:t>
    </dgm:pt>
    <dgm:pt modelId="{4BE4472B-BD15-49C6-B781-84D797BBEEA9}" type="sibTrans" cxnId="{B9D42145-0A98-45AA-B962-A58570347BE6}">
      <dgm:prSet/>
      <dgm:spPr/>
      <dgm:t>
        <a:bodyPr/>
        <a:lstStyle/>
        <a:p>
          <a:endParaRPr lang="en-US"/>
        </a:p>
      </dgm:t>
    </dgm:pt>
    <dgm:pt modelId="{F6D1460F-C36B-4DB0-93FA-3405EDCE6497}">
      <dgm:prSet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s-ES" b="1"/>
            <a:t>🔹 Random Forest / Regresión:</a:t>
          </a:r>
          <a:br>
            <a:rPr lang="es-ES"/>
          </a:br>
          <a:r>
            <a:rPr lang="es-ES"/>
            <a:t>Modelan y </a:t>
          </a:r>
          <a:r>
            <a:rPr lang="es-ES" b="1"/>
            <a:t>predicen el empleo</a:t>
          </a:r>
          <a:r>
            <a:rPr lang="es-ES"/>
            <a:t> en función de factores como salarios, provincia o sector.</a:t>
          </a:r>
          <a:br>
            <a:rPr lang="es-ES"/>
          </a:br>
          <a:r>
            <a:rPr lang="es-ES"/>
            <a:t>📊 </a:t>
          </a:r>
          <a:r>
            <a:rPr lang="es-ES" i="1"/>
            <a:t>Revela las variables con mayor influencia en la generación de empleo.</a:t>
          </a:r>
          <a:endParaRPr lang="en-US"/>
        </a:p>
      </dgm:t>
    </dgm:pt>
    <dgm:pt modelId="{4EBEE8F7-47F0-4AF9-9145-EEFBD93F1B85}" type="parTrans" cxnId="{C379536A-0104-4449-A75A-71DB0C42BB0E}">
      <dgm:prSet/>
      <dgm:spPr/>
      <dgm:t>
        <a:bodyPr/>
        <a:lstStyle/>
        <a:p>
          <a:endParaRPr lang="en-US"/>
        </a:p>
      </dgm:t>
    </dgm:pt>
    <dgm:pt modelId="{87C6289C-FD96-460A-9049-B66CFE1B0DF8}" type="sibTrans" cxnId="{C379536A-0104-4449-A75A-71DB0C42BB0E}">
      <dgm:prSet/>
      <dgm:spPr/>
      <dgm:t>
        <a:bodyPr/>
        <a:lstStyle/>
        <a:p>
          <a:endParaRPr lang="en-US"/>
        </a:p>
      </dgm:t>
    </dgm:pt>
    <dgm:pt modelId="{E16231A2-83A2-4110-9C95-4480086F490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s-ES" b="1"/>
            <a:t>🔹 En conjunto:</a:t>
          </a:r>
          <a:br>
            <a:rPr lang="es-ES"/>
          </a:br>
          <a:r>
            <a:rPr lang="es-ES"/>
            <a:t>La combinación de </a:t>
          </a:r>
          <a:r>
            <a:rPr lang="es-ES" b="1"/>
            <a:t>PCA (visión estructural)</a:t>
          </a:r>
          <a:r>
            <a:rPr lang="es-ES"/>
            <a:t> y </a:t>
          </a:r>
          <a:r>
            <a:rPr lang="es-ES" b="1"/>
            <a:t>Random Forest (explicación y predicción)</a:t>
          </a:r>
          <a:r>
            <a:rPr lang="es-ES"/>
            <a:t> ofrece una mirada integral sobre la heterogeneidad territorial y los determinantes del empleo en energías renovables.</a:t>
          </a:r>
          <a:br>
            <a:rPr lang="es-ES"/>
          </a:br>
          <a:r>
            <a:rPr lang="es-ES"/>
            <a:t>🔍 </a:t>
          </a:r>
          <a:r>
            <a:rPr lang="es-ES" i="1"/>
            <a:t>Integra exploración multivariada y análisis predictivo.</a:t>
          </a:r>
          <a:endParaRPr lang="en-US"/>
        </a:p>
      </dgm:t>
    </dgm:pt>
    <dgm:pt modelId="{6093C3F4-D52D-4FB2-9102-CA4DACEA3995}" type="parTrans" cxnId="{1053ECF9-A041-45F4-B763-1352BCC5C08A}">
      <dgm:prSet/>
      <dgm:spPr/>
      <dgm:t>
        <a:bodyPr/>
        <a:lstStyle/>
        <a:p>
          <a:endParaRPr lang="en-US"/>
        </a:p>
      </dgm:t>
    </dgm:pt>
    <dgm:pt modelId="{6C9B2488-EE90-4329-A07A-1CD57444A0B9}" type="sibTrans" cxnId="{1053ECF9-A041-45F4-B763-1352BCC5C08A}">
      <dgm:prSet/>
      <dgm:spPr/>
      <dgm:t>
        <a:bodyPr/>
        <a:lstStyle/>
        <a:p>
          <a:endParaRPr lang="en-US"/>
        </a:p>
      </dgm:t>
    </dgm:pt>
    <dgm:pt modelId="{69E515DC-C205-4900-A502-E40CCC15097A}" type="pres">
      <dgm:prSet presAssocID="{30AC5F3C-8757-4613-926B-8C545662C97B}" presName="outerComposite" presStyleCnt="0">
        <dgm:presLayoutVars>
          <dgm:chMax val="5"/>
          <dgm:dir/>
          <dgm:resizeHandles val="exact"/>
        </dgm:presLayoutVars>
      </dgm:prSet>
      <dgm:spPr/>
    </dgm:pt>
    <dgm:pt modelId="{84C04E08-B0A3-4645-BD8E-0079DDCA09C4}" type="pres">
      <dgm:prSet presAssocID="{30AC5F3C-8757-4613-926B-8C545662C97B}" presName="dummyMaxCanvas" presStyleCnt="0">
        <dgm:presLayoutVars/>
      </dgm:prSet>
      <dgm:spPr/>
    </dgm:pt>
    <dgm:pt modelId="{04EFEF95-472B-4B4C-A415-1325D7F119CA}" type="pres">
      <dgm:prSet presAssocID="{30AC5F3C-8757-4613-926B-8C545662C97B}" presName="ThreeNodes_1" presStyleLbl="node1" presStyleIdx="0" presStyleCnt="3">
        <dgm:presLayoutVars>
          <dgm:bulletEnabled val="1"/>
        </dgm:presLayoutVars>
      </dgm:prSet>
      <dgm:spPr/>
    </dgm:pt>
    <dgm:pt modelId="{DA8F0099-029E-459D-8116-FF9DBF6ECA59}" type="pres">
      <dgm:prSet presAssocID="{30AC5F3C-8757-4613-926B-8C545662C97B}" presName="ThreeNodes_2" presStyleLbl="node1" presStyleIdx="1" presStyleCnt="3">
        <dgm:presLayoutVars>
          <dgm:bulletEnabled val="1"/>
        </dgm:presLayoutVars>
      </dgm:prSet>
      <dgm:spPr/>
    </dgm:pt>
    <dgm:pt modelId="{C856C7BE-AE40-43FE-B15F-2844A3469027}" type="pres">
      <dgm:prSet presAssocID="{30AC5F3C-8757-4613-926B-8C545662C97B}" presName="ThreeNodes_3" presStyleLbl="node1" presStyleIdx="2" presStyleCnt="3">
        <dgm:presLayoutVars>
          <dgm:bulletEnabled val="1"/>
        </dgm:presLayoutVars>
      </dgm:prSet>
      <dgm:spPr/>
    </dgm:pt>
    <dgm:pt modelId="{190D7B55-83B7-4724-9724-B126E376CCAB}" type="pres">
      <dgm:prSet presAssocID="{30AC5F3C-8757-4613-926B-8C545662C97B}" presName="ThreeConn_1-2" presStyleLbl="fgAccFollowNode1" presStyleIdx="0" presStyleCnt="2">
        <dgm:presLayoutVars>
          <dgm:bulletEnabled val="1"/>
        </dgm:presLayoutVars>
      </dgm:prSet>
      <dgm:spPr/>
    </dgm:pt>
    <dgm:pt modelId="{8DC31761-FBCA-4D7A-9441-7CE54386EF59}" type="pres">
      <dgm:prSet presAssocID="{30AC5F3C-8757-4613-926B-8C545662C97B}" presName="ThreeConn_2-3" presStyleLbl="fgAccFollowNode1" presStyleIdx="1" presStyleCnt="2">
        <dgm:presLayoutVars>
          <dgm:bulletEnabled val="1"/>
        </dgm:presLayoutVars>
      </dgm:prSet>
      <dgm:spPr/>
    </dgm:pt>
    <dgm:pt modelId="{325F8A4A-9D1B-4F77-B988-F540C7B5961D}" type="pres">
      <dgm:prSet presAssocID="{30AC5F3C-8757-4613-926B-8C545662C97B}" presName="ThreeNodes_1_text" presStyleLbl="node1" presStyleIdx="2" presStyleCnt="3">
        <dgm:presLayoutVars>
          <dgm:bulletEnabled val="1"/>
        </dgm:presLayoutVars>
      </dgm:prSet>
      <dgm:spPr/>
    </dgm:pt>
    <dgm:pt modelId="{19A978F4-C6AE-4986-ABF8-0B186AFBCCB1}" type="pres">
      <dgm:prSet presAssocID="{30AC5F3C-8757-4613-926B-8C545662C97B}" presName="ThreeNodes_2_text" presStyleLbl="node1" presStyleIdx="2" presStyleCnt="3">
        <dgm:presLayoutVars>
          <dgm:bulletEnabled val="1"/>
        </dgm:presLayoutVars>
      </dgm:prSet>
      <dgm:spPr/>
    </dgm:pt>
    <dgm:pt modelId="{B2C79F4F-9362-4AF0-BF5D-A484EEA084D6}" type="pres">
      <dgm:prSet presAssocID="{30AC5F3C-8757-4613-926B-8C545662C97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691FA3C-3802-47B3-BABD-8DE746C16B2B}" type="presOf" srcId="{E16231A2-83A2-4110-9C95-4480086F4905}" destId="{C856C7BE-AE40-43FE-B15F-2844A3469027}" srcOrd="0" destOrd="0" presId="urn:microsoft.com/office/officeart/2005/8/layout/vProcess5"/>
    <dgm:cxn modelId="{79950B61-E05B-4E1E-BFE8-57775EDADF45}" type="presOf" srcId="{87C6289C-FD96-460A-9049-B66CFE1B0DF8}" destId="{8DC31761-FBCA-4D7A-9441-7CE54386EF59}" srcOrd="0" destOrd="0" presId="urn:microsoft.com/office/officeart/2005/8/layout/vProcess5"/>
    <dgm:cxn modelId="{084F8D61-3686-4A2C-84A9-B0177B265136}" type="presOf" srcId="{F6D1460F-C36B-4DB0-93FA-3405EDCE6497}" destId="{19A978F4-C6AE-4986-ABF8-0B186AFBCCB1}" srcOrd="1" destOrd="0" presId="urn:microsoft.com/office/officeart/2005/8/layout/vProcess5"/>
    <dgm:cxn modelId="{B9D42145-0A98-45AA-B962-A58570347BE6}" srcId="{30AC5F3C-8757-4613-926B-8C545662C97B}" destId="{6CC19CCD-1DAD-4FB6-90A6-88874477319D}" srcOrd="0" destOrd="0" parTransId="{DC25C7AC-04E6-4069-A9D8-994FEFB66008}" sibTransId="{4BE4472B-BD15-49C6-B781-84D797BBEEA9}"/>
    <dgm:cxn modelId="{C379536A-0104-4449-A75A-71DB0C42BB0E}" srcId="{30AC5F3C-8757-4613-926B-8C545662C97B}" destId="{F6D1460F-C36B-4DB0-93FA-3405EDCE6497}" srcOrd="1" destOrd="0" parTransId="{4EBEE8F7-47F0-4AF9-9145-EEFBD93F1B85}" sibTransId="{87C6289C-FD96-460A-9049-B66CFE1B0DF8}"/>
    <dgm:cxn modelId="{0DDEA96F-F614-42EE-BDD8-C4369F11DFAA}" type="presOf" srcId="{F6D1460F-C36B-4DB0-93FA-3405EDCE6497}" destId="{DA8F0099-029E-459D-8116-FF9DBF6ECA59}" srcOrd="0" destOrd="0" presId="urn:microsoft.com/office/officeart/2005/8/layout/vProcess5"/>
    <dgm:cxn modelId="{1F12AB96-892F-4D0E-A995-7B85B777A08A}" type="presOf" srcId="{E16231A2-83A2-4110-9C95-4480086F4905}" destId="{B2C79F4F-9362-4AF0-BF5D-A484EEA084D6}" srcOrd="1" destOrd="0" presId="urn:microsoft.com/office/officeart/2005/8/layout/vProcess5"/>
    <dgm:cxn modelId="{EB7BC4AB-C507-4FC6-8FAE-D6CC823E92FD}" type="presOf" srcId="{30AC5F3C-8757-4613-926B-8C545662C97B}" destId="{69E515DC-C205-4900-A502-E40CCC15097A}" srcOrd="0" destOrd="0" presId="urn:microsoft.com/office/officeart/2005/8/layout/vProcess5"/>
    <dgm:cxn modelId="{0A083FBC-3D4A-4067-82A1-B0BEE547A257}" type="presOf" srcId="{6CC19CCD-1DAD-4FB6-90A6-88874477319D}" destId="{04EFEF95-472B-4B4C-A415-1325D7F119CA}" srcOrd="0" destOrd="0" presId="urn:microsoft.com/office/officeart/2005/8/layout/vProcess5"/>
    <dgm:cxn modelId="{1E5737C0-F22A-4EA3-92A3-3C83FDDF14BE}" type="presOf" srcId="{4BE4472B-BD15-49C6-B781-84D797BBEEA9}" destId="{190D7B55-83B7-4724-9724-B126E376CCAB}" srcOrd="0" destOrd="0" presId="urn:microsoft.com/office/officeart/2005/8/layout/vProcess5"/>
    <dgm:cxn modelId="{2FC355DD-D07D-4645-A333-9423766BFE27}" type="presOf" srcId="{6CC19CCD-1DAD-4FB6-90A6-88874477319D}" destId="{325F8A4A-9D1B-4F77-B988-F540C7B5961D}" srcOrd="1" destOrd="0" presId="urn:microsoft.com/office/officeart/2005/8/layout/vProcess5"/>
    <dgm:cxn modelId="{1053ECF9-A041-45F4-B763-1352BCC5C08A}" srcId="{30AC5F3C-8757-4613-926B-8C545662C97B}" destId="{E16231A2-83A2-4110-9C95-4480086F4905}" srcOrd="2" destOrd="0" parTransId="{6093C3F4-D52D-4FB2-9102-CA4DACEA3995}" sibTransId="{6C9B2488-EE90-4329-A07A-1CD57444A0B9}"/>
    <dgm:cxn modelId="{0342476B-D5D0-4352-B142-459E88E166F4}" type="presParOf" srcId="{69E515DC-C205-4900-A502-E40CCC15097A}" destId="{84C04E08-B0A3-4645-BD8E-0079DDCA09C4}" srcOrd="0" destOrd="0" presId="urn:microsoft.com/office/officeart/2005/8/layout/vProcess5"/>
    <dgm:cxn modelId="{3B8C93D6-98C8-4759-99EA-53FE8A03D71C}" type="presParOf" srcId="{69E515DC-C205-4900-A502-E40CCC15097A}" destId="{04EFEF95-472B-4B4C-A415-1325D7F119CA}" srcOrd="1" destOrd="0" presId="urn:microsoft.com/office/officeart/2005/8/layout/vProcess5"/>
    <dgm:cxn modelId="{F838741F-9A21-4137-827F-D010F4343CD3}" type="presParOf" srcId="{69E515DC-C205-4900-A502-E40CCC15097A}" destId="{DA8F0099-029E-459D-8116-FF9DBF6ECA59}" srcOrd="2" destOrd="0" presId="urn:microsoft.com/office/officeart/2005/8/layout/vProcess5"/>
    <dgm:cxn modelId="{184DFCE5-C3DE-4215-9E7C-F19313A099E8}" type="presParOf" srcId="{69E515DC-C205-4900-A502-E40CCC15097A}" destId="{C856C7BE-AE40-43FE-B15F-2844A3469027}" srcOrd="3" destOrd="0" presId="urn:microsoft.com/office/officeart/2005/8/layout/vProcess5"/>
    <dgm:cxn modelId="{050EAAC4-5039-4323-9D0E-9F74FCA3525F}" type="presParOf" srcId="{69E515DC-C205-4900-A502-E40CCC15097A}" destId="{190D7B55-83B7-4724-9724-B126E376CCAB}" srcOrd="4" destOrd="0" presId="urn:microsoft.com/office/officeart/2005/8/layout/vProcess5"/>
    <dgm:cxn modelId="{699B834A-70C9-424E-BFF2-5E5099508A6B}" type="presParOf" srcId="{69E515DC-C205-4900-A502-E40CCC15097A}" destId="{8DC31761-FBCA-4D7A-9441-7CE54386EF59}" srcOrd="5" destOrd="0" presId="urn:microsoft.com/office/officeart/2005/8/layout/vProcess5"/>
    <dgm:cxn modelId="{67713608-E0D3-465A-A08A-C4B25917778C}" type="presParOf" srcId="{69E515DC-C205-4900-A502-E40CCC15097A}" destId="{325F8A4A-9D1B-4F77-B988-F540C7B5961D}" srcOrd="6" destOrd="0" presId="urn:microsoft.com/office/officeart/2005/8/layout/vProcess5"/>
    <dgm:cxn modelId="{03DB7A78-05B1-4FA2-AFEE-5F7FEFEEF8AE}" type="presParOf" srcId="{69E515DC-C205-4900-A502-E40CCC15097A}" destId="{19A978F4-C6AE-4986-ABF8-0B186AFBCCB1}" srcOrd="7" destOrd="0" presId="urn:microsoft.com/office/officeart/2005/8/layout/vProcess5"/>
    <dgm:cxn modelId="{679B10D4-DC2E-4518-9E53-1F3ABB3F82D4}" type="presParOf" srcId="{69E515DC-C205-4900-A502-E40CCC15097A}" destId="{B2C79F4F-9362-4AF0-BF5D-A484EEA084D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AFBDE3-7926-4A5C-9681-B05EED73495F}">
      <dsp:nvSpPr>
        <dsp:cNvPr id="0" name=""/>
        <dsp:cNvSpPr/>
      </dsp:nvSpPr>
      <dsp:spPr>
        <a:xfrm>
          <a:off x="605" y="272711"/>
          <a:ext cx="2362529" cy="1417517"/>
        </a:xfrm>
        <a:prstGeom prst="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Análisis de empleo total y por sectores económicos.
</a:t>
          </a:r>
          <a:endParaRPr lang="en-US" sz="1700" kern="1200" dirty="0"/>
        </a:p>
      </dsp:txBody>
      <dsp:txXfrm>
        <a:off x="605" y="272711"/>
        <a:ext cx="2362529" cy="1417517"/>
      </dsp:txXfrm>
    </dsp:sp>
    <dsp:sp modelId="{A88D0889-B0F4-4095-8286-37E9657E192C}">
      <dsp:nvSpPr>
        <dsp:cNvPr id="0" name=""/>
        <dsp:cNvSpPr/>
      </dsp:nvSpPr>
      <dsp:spPr>
        <a:xfrm>
          <a:off x="2599387" y="272711"/>
          <a:ext cx="2362529" cy="1417517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Potencia instalada según tecnología: solar, eólica y biomasa.
</a:t>
          </a:r>
          <a:endParaRPr lang="en-US" sz="1700" kern="1200" dirty="0"/>
        </a:p>
      </dsp:txBody>
      <dsp:txXfrm>
        <a:off x="2599387" y="272711"/>
        <a:ext cx="2362529" cy="1417517"/>
      </dsp:txXfrm>
    </dsp:sp>
    <dsp:sp modelId="{BBA699EA-72DD-4B65-8606-A07E4B936650}">
      <dsp:nvSpPr>
        <dsp:cNvPr id="0" name=""/>
        <dsp:cNvSpPr/>
      </dsp:nvSpPr>
      <dsp:spPr>
        <a:xfrm>
          <a:off x="605" y="1926481"/>
          <a:ext cx="2362529" cy="1417517"/>
        </a:xfrm>
        <a:prstGeom prst="rect">
          <a:avLst/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Estudio de la densidad poblacional y estructura productiva.
</a:t>
          </a:r>
          <a:endParaRPr lang="en-US" sz="1700" kern="1200" dirty="0"/>
        </a:p>
      </dsp:txBody>
      <dsp:txXfrm>
        <a:off x="605" y="1926481"/>
        <a:ext cx="2362529" cy="1417517"/>
      </dsp:txXfrm>
    </dsp:sp>
    <dsp:sp modelId="{F72C9B82-3C8A-4AC7-BBEB-9867AE38AFC1}">
      <dsp:nvSpPr>
        <dsp:cNvPr id="0" name=""/>
        <dsp:cNvSpPr/>
      </dsp:nvSpPr>
      <dsp:spPr>
        <a:xfrm>
          <a:off x="2599387" y="1926481"/>
          <a:ext cx="2362529" cy="1417517"/>
        </a:xfrm>
        <a:prstGeom prst="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Seguimiento del empleo tras procesos de adjudicación.
</a:t>
          </a:r>
          <a:endParaRPr lang="en-US" sz="1700" kern="1200" dirty="0"/>
        </a:p>
      </dsp:txBody>
      <dsp:txXfrm>
        <a:off x="2599387" y="1926481"/>
        <a:ext cx="2362529" cy="14175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FEF95-472B-4B4C-A415-1325D7F119CA}">
      <dsp:nvSpPr>
        <dsp:cNvPr id="0" name=""/>
        <dsp:cNvSpPr/>
      </dsp:nvSpPr>
      <dsp:spPr>
        <a:xfrm>
          <a:off x="0" y="0"/>
          <a:ext cx="9288654" cy="1106821"/>
        </a:xfrm>
        <a:prstGeom prst="roundRect">
          <a:avLst>
            <a:gd name="adj" fmla="val 10000"/>
          </a:avLst>
        </a:prstGeom>
        <a:solidFill>
          <a:schemeClr val="accent1">
            <a:lumMod val="40000"/>
            <a:lumOff val="6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🔹 PCA + Clúster:</a:t>
          </a:r>
          <a:br>
            <a:rPr lang="es-ES" sz="1300" kern="1200"/>
          </a:br>
          <a:r>
            <a:rPr lang="es-ES" sz="1300" kern="1200"/>
            <a:t>Permiten identificar </a:t>
          </a:r>
          <a:r>
            <a:rPr lang="es-ES" sz="1300" b="1" kern="1200"/>
            <a:t>patrones regionales</a:t>
          </a:r>
          <a:r>
            <a:rPr lang="es-ES" sz="1300" kern="1200"/>
            <a:t> de empleo y agrupar departamentos con perfiles similares según niveles salariales, sectores y dinámica laboral.</a:t>
          </a:r>
          <a:br>
            <a:rPr lang="es-ES" sz="1300" kern="1200"/>
          </a:br>
          <a:r>
            <a:rPr lang="es-ES" sz="1300" kern="1200"/>
            <a:t>🗺️ </a:t>
          </a:r>
          <a:r>
            <a:rPr lang="es-ES" sz="1300" i="1" kern="1200"/>
            <a:t>Visualización clara de regiones con alta o baja especialización en empleo renovable.</a:t>
          </a:r>
          <a:endParaRPr lang="en-US" sz="1300" kern="1200"/>
        </a:p>
      </dsp:txBody>
      <dsp:txXfrm>
        <a:off x="32418" y="32418"/>
        <a:ext cx="8094307" cy="1041985"/>
      </dsp:txXfrm>
    </dsp:sp>
    <dsp:sp modelId="{DA8F0099-029E-459D-8116-FF9DBF6ECA59}">
      <dsp:nvSpPr>
        <dsp:cNvPr id="0" name=""/>
        <dsp:cNvSpPr/>
      </dsp:nvSpPr>
      <dsp:spPr>
        <a:xfrm>
          <a:off x="819587" y="1291291"/>
          <a:ext cx="9288654" cy="1106821"/>
        </a:xfrm>
        <a:prstGeom prst="roundRect">
          <a:avLst>
            <a:gd name="adj" fmla="val 10000"/>
          </a:avLst>
        </a:prstGeom>
        <a:solidFill>
          <a:schemeClr val="tx2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🔹 Random Forest / Regresión:</a:t>
          </a:r>
          <a:br>
            <a:rPr lang="es-ES" sz="1300" kern="1200"/>
          </a:br>
          <a:r>
            <a:rPr lang="es-ES" sz="1300" kern="1200"/>
            <a:t>Modelan y </a:t>
          </a:r>
          <a:r>
            <a:rPr lang="es-ES" sz="1300" b="1" kern="1200"/>
            <a:t>predicen el empleo</a:t>
          </a:r>
          <a:r>
            <a:rPr lang="es-ES" sz="1300" kern="1200"/>
            <a:t> en función de factores como salarios, provincia o sector.</a:t>
          </a:r>
          <a:br>
            <a:rPr lang="es-ES" sz="1300" kern="1200"/>
          </a:br>
          <a:r>
            <a:rPr lang="es-ES" sz="1300" kern="1200"/>
            <a:t>📊 </a:t>
          </a:r>
          <a:r>
            <a:rPr lang="es-ES" sz="1300" i="1" kern="1200"/>
            <a:t>Revela las variables con mayor influencia en la generación de empleo.</a:t>
          </a:r>
          <a:endParaRPr lang="en-US" sz="1300" kern="1200"/>
        </a:p>
      </dsp:txBody>
      <dsp:txXfrm>
        <a:off x="852005" y="1323709"/>
        <a:ext cx="7684797" cy="1041985"/>
      </dsp:txXfrm>
    </dsp:sp>
    <dsp:sp modelId="{C856C7BE-AE40-43FE-B15F-2844A3469027}">
      <dsp:nvSpPr>
        <dsp:cNvPr id="0" name=""/>
        <dsp:cNvSpPr/>
      </dsp:nvSpPr>
      <dsp:spPr>
        <a:xfrm>
          <a:off x="1639174" y="2582583"/>
          <a:ext cx="9288654" cy="110682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kern="1200"/>
            <a:t>🔹 En conjunto:</a:t>
          </a:r>
          <a:br>
            <a:rPr lang="es-ES" sz="1300" kern="1200"/>
          </a:br>
          <a:r>
            <a:rPr lang="es-ES" sz="1300" kern="1200"/>
            <a:t>La combinación de </a:t>
          </a:r>
          <a:r>
            <a:rPr lang="es-ES" sz="1300" b="1" kern="1200"/>
            <a:t>PCA (visión estructural)</a:t>
          </a:r>
          <a:r>
            <a:rPr lang="es-ES" sz="1300" kern="1200"/>
            <a:t> y </a:t>
          </a:r>
          <a:r>
            <a:rPr lang="es-ES" sz="1300" b="1" kern="1200"/>
            <a:t>Random Forest (explicación y predicción)</a:t>
          </a:r>
          <a:r>
            <a:rPr lang="es-ES" sz="1300" kern="1200"/>
            <a:t> ofrece una mirada integral sobre la heterogeneidad territorial y los determinantes del empleo en energías renovables.</a:t>
          </a:r>
          <a:br>
            <a:rPr lang="es-ES" sz="1300" kern="1200"/>
          </a:br>
          <a:r>
            <a:rPr lang="es-ES" sz="1300" kern="1200"/>
            <a:t>🔍 </a:t>
          </a:r>
          <a:r>
            <a:rPr lang="es-ES" sz="1300" i="1" kern="1200"/>
            <a:t>Integra exploración multivariada y análisis predictivo.</a:t>
          </a:r>
          <a:endParaRPr lang="en-US" sz="1300" kern="1200"/>
        </a:p>
      </dsp:txBody>
      <dsp:txXfrm>
        <a:off x="1671592" y="2615001"/>
        <a:ext cx="7684797" cy="1041985"/>
      </dsp:txXfrm>
    </dsp:sp>
    <dsp:sp modelId="{190D7B55-83B7-4724-9724-B126E376CCAB}">
      <dsp:nvSpPr>
        <dsp:cNvPr id="0" name=""/>
        <dsp:cNvSpPr/>
      </dsp:nvSpPr>
      <dsp:spPr>
        <a:xfrm>
          <a:off x="8569220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731092" y="839339"/>
        <a:ext cx="395689" cy="541373"/>
      </dsp:txXfrm>
    </dsp:sp>
    <dsp:sp modelId="{8DC31761-FBCA-4D7A-9441-7CE54386EF59}">
      <dsp:nvSpPr>
        <dsp:cNvPr id="0" name=""/>
        <dsp:cNvSpPr/>
      </dsp:nvSpPr>
      <dsp:spPr>
        <a:xfrm>
          <a:off x="9388807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550679" y="2123252"/>
        <a:ext cx="395689" cy="541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F5A50-B1F3-4C49-B4C3-F56DF540454D}" type="datetimeFigureOut">
              <a:rPr lang="es-AR" smtClean="0"/>
              <a:t>5/11/2025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1A430-F3E9-44AD-A036-7D3CDA550B1A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510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15F5-3E5D-7509-1B98-1D6A0079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D3FBD8-14AB-E4A2-1547-3267005C6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BDE8FB-E2E3-E2C2-2EF3-9E2DC1E7B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92B046-2743-DC73-BF8B-AB75BC87E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1A430-F3E9-44AD-A036-7D3CDA550B1A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4675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46A5-985F-DB8F-FDA2-9513BD33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ECA659-B547-3C67-EC5C-3FE2C75F6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AC0D4B-99C9-5B9C-3A64-4F17E44AF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1A26DD-A7A7-3791-9A87-6B1A85B8F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1A430-F3E9-44AD-A036-7D3CDA550B1A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596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3881-2EAB-FDF8-9EE1-8C62D796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9A82E0-AC1D-A09F-B9D6-AF33A910D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3E6E51-9B34-D678-4EB7-E845E9459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454320-B496-681B-C138-76A00226E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1A430-F3E9-44AD-A036-7D3CDA550B1A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4402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1A430-F3E9-44AD-A036-7D3CDA550B1A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13795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49BD-84A6-1C6B-E324-B2DA53D0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DC059F-3140-4193-0B15-9950B34D2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FA2645-B773-7E55-8C39-883231F54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1F4A91-7555-DC52-4D33-8722E91A5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1A430-F3E9-44AD-A036-7D3CDA550B1A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4872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60E8-9A5E-A0F4-16FB-8BDC999C1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4A370-8AA6-9784-5A74-24A321454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DB001-7560-1E35-7964-DD2948CE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AE7E0-9144-236A-C569-0B7DABE2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BD553-BA45-1ABD-4059-1B20397E0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1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6D89-EBB6-579C-4A39-951395BD1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D7589-8C7A-C40E-83D2-3B09DA294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DDD2-6FBE-7DCB-20C7-4D9C4BBD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0A790-54AF-EBF5-258D-7F3FC686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7997A-9991-1045-41FA-D025AEB5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F996-36FA-2EA4-262F-0466C84D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9C73B-19EA-CF7E-7507-31366E31A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CD25F-11E8-22B0-9949-D6537BDD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87D0-18DB-3309-F6A7-D60DA4C0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9506D-E083-A1A0-5A25-2EC6A9C3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53318-1EE7-2B94-30D4-EE9C53DE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0703B-DE82-1150-57F1-6A528522B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D2847-931F-B477-0169-52E32F02B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9513C-DECD-22D8-D830-B3EA3450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D242E-FF45-FFD9-39EB-8BA3D1DD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26F4A-1999-9FA0-F069-85A0308A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1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3BA9-165F-0C10-1559-18B8672E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C7DC8-0D1C-650B-3B2F-45CD305E8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E94BA-8EC6-8764-771A-C5D30D68B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103FF-629A-2D0B-5772-36DCABD88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39CDA-C3F3-69BA-E1D0-9AEBAA2D2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A3B39-7FAC-9B38-0812-2D1029DE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1236F2-65B3-937B-83FC-DA22D0AC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DDB9-E5A6-FBD5-DB0E-50747C8F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5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EBF5-F0E2-AC18-BECA-CB8CF110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88802-DD00-FA87-3537-F2ACC1C9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E0AE3-54B1-B454-FF5C-5545DE90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9EF9A-F0DB-B503-3356-5FACBCD6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7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E3EF2-2204-7323-015A-E0515D8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69A090-175E-B9D4-F42D-94494844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26420-C8A0-0C6E-822C-990B8E71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8F1C-1731-190C-4EB7-8C6F84FF4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1B07-93F2-9380-E7BC-C9CE80B83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8BFEE-45E3-EB54-8851-D506A2808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9E099-63E0-0B69-BF4D-8FD30B21A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C2B3E-320C-48DE-F8AF-BE915435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7159A-0930-6026-EB9B-F8925DE6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68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772EA-4880-06F0-70F2-A011D9D38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C3A6F-C634-9FB1-AD47-D71A83EE0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CF843-11C0-FECF-F017-084161FEE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64CA9-01EF-6894-FFEE-D73AE7B1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9D99F-F5BB-E9F4-CD18-AC49118E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CEC21-D1F9-803F-65BE-BA577411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6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0D1B-9870-ACA4-E909-89F17B0FD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C0A72-9643-5AEE-87F8-7577E365D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334C-B685-0729-BABB-03A09352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34C5D-BD61-8A6C-9D98-347722B3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96FF-F488-8E7B-A985-CF46BA94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6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7ED49-C7C6-5F22-86D8-20F32DB87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0A7D8-B33C-4B25-88B7-E8766135A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E2421-EC5C-7552-0562-834CF5EF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DF1DD-BD53-9E95-1DC7-6057340F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962E3-3215-C265-1321-38E946F6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4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E27BC-192A-4B9C-F75A-F12B869F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8C794-3CB1-5159-A895-151B1DD17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B474F-0500-E560-A7CF-C399813A1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5B3F0-4CD7-4939-8C66-5D41815329E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AFADA-1A04-9F7E-23E8-6816F6624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302B8-4A14-6FEB-F386-9E746B669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627A5-BC93-4774-9478-CB0141D90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7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rgentina.gob.ar/trabajo/estadisticas/observatorio-de-empleo-y-dinamica-empresarial-oede/empleo-y-remuneraciones-po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lic.tableau.com/app/profile/datosenergia/viz/AdjudicacionesRenovARMINEMArgentina/AdjudicacionesRenovArArgentina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5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5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BEE18-1E9B-CA96-73B1-0E178C741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s-ES" sz="4800" dirty="0">
                <a:solidFill>
                  <a:srgbClr val="FFFFFF"/>
                </a:solidFill>
              </a:rPr>
              <a:t>Análisis del empleo asalariado y remuneraciones en Argentina.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71" name="Rectangle 6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835621-B525-3C96-1B9E-DB4CC4613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ES" sz="1300" b="1" dirty="0">
                <a:solidFill>
                  <a:srgbClr val="FFFFFF"/>
                </a:solidFill>
              </a:rPr>
              <a:t>Taller de programación, Grupo 3.</a:t>
            </a:r>
          </a:p>
          <a:p>
            <a:pPr algn="r"/>
            <a:r>
              <a:rPr lang="en-US" sz="1300" b="1" dirty="0">
                <a:solidFill>
                  <a:srgbClr val="FFFFFF"/>
                </a:solidFill>
              </a:rPr>
              <a:t>Federico Kostzer</a:t>
            </a:r>
          </a:p>
          <a:p>
            <a:pPr algn="r"/>
            <a:r>
              <a:rPr lang="en-US" sz="1300" b="1" dirty="0">
                <a:solidFill>
                  <a:srgbClr val="FFFFFF"/>
                </a:solidFill>
              </a:rPr>
              <a:t>Manuel Meza</a:t>
            </a:r>
          </a:p>
          <a:p>
            <a:pPr algn="r"/>
            <a:r>
              <a:rPr lang="en-US" sz="1300" b="1" dirty="0">
                <a:solidFill>
                  <a:srgbClr val="FFFFFF"/>
                </a:solidFill>
              </a:rPr>
              <a:t>Maximiliano G. Pardini</a:t>
            </a:r>
          </a:p>
          <a:p>
            <a:pPr algn="r"/>
            <a:endParaRPr lang="en-US" sz="1300" dirty="0">
              <a:solidFill>
                <a:srgbClr val="FFFFFF"/>
              </a:solidFill>
            </a:endParaRPr>
          </a:p>
          <a:p>
            <a:pPr algn="r"/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1FA47F74-E14E-AC24-80C8-E8BD81C47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350" y="1715910"/>
            <a:ext cx="2291041" cy="245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0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6D7F7-3C5E-C32F-7211-D8A5C2A2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820B9A3-0971-BEA7-0067-989BF8915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0CDDFAFC-BDB1-68BE-BEFE-0FA8CE746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08FB7B6B-A5F2-66BA-C06E-702D2F097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174F1776-398A-0E9C-BA9F-6D88D6757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BD0E7D-D924-1656-FBF4-E1813585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9247F-4D71-F506-4A66-14BE311F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Fuente de información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FBA50D-B8B4-E291-6E94-76ECD45082F9}"/>
              </a:ext>
            </a:extLst>
          </p:cNvPr>
          <p:cNvSpPr txBox="1">
            <a:spLocks/>
          </p:cNvSpPr>
          <p:nvPr/>
        </p:nvSpPr>
        <p:spPr>
          <a:xfrm>
            <a:off x="5223454" y="2355622"/>
            <a:ext cx="6555347" cy="293843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1" dirty="0">
                <a:solidFill>
                  <a:srgbClr val="FFFFFF"/>
                </a:solidFill>
              </a:rPr>
              <a:t>Puestos de trabajo asalariados registrado y remuneraciones por departamento y sector.</a:t>
            </a:r>
          </a:p>
          <a:p>
            <a:pPr marL="0" indent="0">
              <a:buNone/>
            </a:pPr>
            <a:endParaRPr lang="es-ES" sz="1800" b="1" dirty="0">
              <a:solidFill>
                <a:srgbClr val="FFFFFF"/>
              </a:solidFill>
            </a:endParaRPr>
          </a:p>
          <a:p>
            <a:r>
              <a:rPr lang="es-ES" sz="1800" b="1" dirty="0">
                <a:solidFill>
                  <a:srgbClr val="FFFFFF"/>
                </a:solidFill>
              </a:rPr>
              <a:t>Combina el padrón de inscripción de empresas de AFIP junto con los registros administrativos del Sistema Integrado Previsional Argentino (SIPA) y los registros del sistema Simplificación Registral (SR).</a:t>
            </a:r>
          </a:p>
        </p:txBody>
      </p:sp>
      <p:pic>
        <p:nvPicPr>
          <p:cNvPr id="8" name="Imagen 43">
            <a:extLst>
              <a:ext uri="{FF2B5EF4-FFF2-40B4-BE49-F238E27FC236}">
                <a16:creationId xmlns:a16="http://schemas.microsoft.com/office/drawing/2014/main" id="{7A4FFD83-B329-4D7F-972E-5DC0F4D6F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29" y="2806097"/>
            <a:ext cx="4268427" cy="1787405"/>
          </a:xfrm>
          <a:prstGeom prst="rect">
            <a:avLst/>
          </a:prstGeom>
        </p:spPr>
      </p:pic>
      <p:sp>
        <p:nvSpPr>
          <p:cNvPr id="9" name="CuadroTexto 21">
            <a:extLst>
              <a:ext uri="{FF2B5EF4-FFF2-40B4-BE49-F238E27FC236}">
                <a16:creationId xmlns:a16="http://schemas.microsoft.com/office/drawing/2014/main" id="{B6CF5498-8799-7A01-B53A-4389DE7F09E8}"/>
              </a:ext>
            </a:extLst>
          </p:cNvPr>
          <p:cNvSpPr txBox="1"/>
          <p:nvPr/>
        </p:nvSpPr>
        <p:spPr>
          <a:xfrm>
            <a:off x="3360083" y="5994621"/>
            <a:ext cx="6866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/>
              <a:t>Fuente: </a:t>
            </a:r>
            <a:r>
              <a:rPr lang="es-ES" sz="1400" dirty="0">
                <a:hlinkClick r:id="rId4"/>
              </a:rPr>
              <a:t>Empleo y remuneraciones por departamento | Argentina.gob.ar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389066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77B13-C806-1F33-383D-2163FBF7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66C73E4-AD7E-D8F5-D42D-F4553514C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A8D08795-40E9-A57F-7762-58AD3801E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DFFC9889-C40A-BE4A-8E1B-D4213845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AD35A77B-FC9F-B62A-0CDF-DC32DF1E2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3773BD-6EF2-01E4-C2E5-1D5813EE7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0BF11-B26B-4801-C75A-5157BD62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Nivel de la base de datos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93FEAFA-4A5F-0DFF-86D7-32C916C12B6A}"/>
              </a:ext>
            </a:extLst>
          </p:cNvPr>
          <p:cNvSpPr txBox="1">
            <a:spLocks/>
          </p:cNvSpPr>
          <p:nvPr/>
        </p:nvSpPr>
        <p:spPr>
          <a:xfrm>
            <a:off x="4165043" y="1947190"/>
            <a:ext cx="4409614" cy="23573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800" b="1" dirty="0">
                <a:solidFill>
                  <a:srgbClr val="FFFFFF"/>
                </a:solidFill>
              </a:rPr>
              <a:t>Nivel: Departamental  (520 departamentos provinciales)</a:t>
            </a:r>
          </a:p>
          <a:p>
            <a:r>
              <a:rPr lang="es-419" sz="1800" b="1" dirty="0">
                <a:solidFill>
                  <a:srgbClr val="FFFFFF"/>
                </a:solidFill>
              </a:rPr>
              <a:t>Cobertura temporal: Enero/2015 - Diciembre/2021 (Mensual)</a:t>
            </a:r>
          </a:p>
          <a:p>
            <a:r>
              <a:rPr lang="es-419" sz="1800" b="1" dirty="0">
                <a:solidFill>
                  <a:srgbClr val="FFFFFF"/>
                </a:solidFill>
              </a:rPr>
              <a:t>Análisis del empleo formal privado.</a:t>
            </a:r>
          </a:p>
          <a:p>
            <a:r>
              <a:rPr lang="es-419" sz="1800" b="1" dirty="0">
                <a:solidFill>
                  <a:srgbClr val="FFFFFF"/>
                </a:solidFill>
              </a:rPr>
              <a:t>Análisis de salarios.</a:t>
            </a:r>
          </a:p>
          <a:p>
            <a:r>
              <a:rPr lang="es-419" sz="1800" b="1" dirty="0">
                <a:solidFill>
                  <a:srgbClr val="FFFFFF"/>
                </a:solidFill>
              </a:rPr>
              <a:t>La base contiene en total 293.400 filas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4" name="Imagen 5" descr="Mapa&#10;&#10;El contenido generado por IA puede ser incorrecto.">
            <a:extLst>
              <a:ext uri="{FF2B5EF4-FFF2-40B4-BE49-F238E27FC236}">
                <a16:creationId xmlns:a16="http://schemas.microsoft.com/office/drawing/2014/main" id="{D9E66D94-42D2-2EF0-8CD6-AD8C8B2EF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8" y="1853605"/>
            <a:ext cx="2431859" cy="4727236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3CBE0F2-962E-44D4-C099-FC6D1513EB3A}"/>
              </a:ext>
            </a:extLst>
          </p:cNvPr>
          <p:cNvSpPr txBox="1">
            <a:spLocks/>
          </p:cNvSpPr>
          <p:nvPr/>
        </p:nvSpPr>
        <p:spPr>
          <a:xfrm>
            <a:off x="4165043" y="4864708"/>
            <a:ext cx="4480001" cy="117598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7200" b="1" dirty="0">
                <a:solidFill>
                  <a:srgbClr val="FFFFFF"/>
                </a:solidFill>
              </a:rPr>
              <a:t>Base de datos del Ministerio de Energía: Adjudicaciones de proyectos de energías renovables - Programa RenovAr </a:t>
            </a:r>
          </a:p>
          <a:p>
            <a:r>
              <a:rPr lang="es-ES" sz="7200" b="1" dirty="0">
                <a:solidFill>
                  <a:srgbClr val="FFFFFF"/>
                </a:solidFill>
              </a:rPr>
              <a:t>(Noviembre/2016 – Julio 2019)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7922B2-1459-6219-A8A3-D8212FA85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733" y="5511617"/>
            <a:ext cx="2383075" cy="409447"/>
          </a:xfrm>
          <a:prstGeom prst="rect">
            <a:avLst/>
          </a:prstGeom>
        </p:spPr>
      </p:pic>
      <p:sp>
        <p:nvSpPr>
          <p:cNvPr id="7" name="Flecha: curvada hacia abajo 6">
            <a:extLst>
              <a:ext uri="{FF2B5EF4-FFF2-40B4-BE49-F238E27FC236}">
                <a16:creationId xmlns:a16="http://schemas.microsoft.com/office/drawing/2014/main" id="{C9014D2A-7350-0A4B-DBA2-941ACE43D95A}"/>
              </a:ext>
            </a:extLst>
          </p:cNvPr>
          <p:cNvSpPr/>
          <p:nvPr/>
        </p:nvSpPr>
        <p:spPr>
          <a:xfrm rot="5400000">
            <a:off x="8417219" y="4191890"/>
            <a:ext cx="1543455" cy="85603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CD36C5-F38F-4B04-341C-90543E3FB842}"/>
              </a:ext>
            </a:extLst>
          </p:cNvPr>
          <p:cNvSpPr txBox="1"/>
          <p:nvPr/>
        </p:nvSpPr>
        <p:spPr>
          <a:xfrm>
            <a:off x="4079252" y="6365397"/>
            <a:ext cx="72213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50" dirty="0"/>
              <a:t>Fuente: </a:t>
            </a:r>
            <a:r>
              <a:rPr lang="es-ES" sz="1050" dirty="0">
                <a:solidFill>
                  <a:srgbClr val="9454C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Adjudicaciones de proyectos de energías renovables - Programa RenovAr - MINEM Argentina | Tableau Public</a:t>
            </a:r>
            <a:endParaRPr lang="es-AR" sz="105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1A3CC8-DCCC-C304-2A22-B66BE02EE86D}"/>
              </a:ext>
            </a:extLst>
          </p:cNvPr>
          <p:cNvSpPr txBox="1"/>
          <p:nvPr/>
        </p:nvSpPr>
        <p:spPr>
          <a:xfrm>
            <a:off x="9732849" y="4239906"/>
            <a:ext cx="122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00307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0A4E7-5025-9C9E-23D4-F901893FF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7DF50E1-8CE8-CF26-BFBC-9540E97B3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1FF32893-F693-27F9-B028-604AF4F3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D2C398B6-6A14-93A4-C751-BB92DAE3C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6B9210F1-78D1-2EC4-9C54-67D5920FD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ACBBD2-4124-7120-F3CE-42A73AEE7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C4BA8-669C-F8B3-697E-A2FE01D6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Preparación de la base de datos 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BE1DBD-95C4-523A-9589-B8F4750E5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419" y="1928621"/>
            <a:ext cx="4303422" cy="920153"/>
          </a:xfr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s-AR" sz="1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Proceso de limpieza</a:t>
            </a:r>
          </a:p>
          <a:p>
            <a:r>
              <a:rPr lang="es-AR" sz="1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Homogeneización de códigos departamentales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6" descr="A bar code with black text&#10;&#10;AI-generated content may be incorrect.">
            <a:extLst>
              <a:ext uri="{FF2B5EF4-FFF2-40B4-BE49-F238E27FC236}">
                <a16:creationId xmlns:a16="http://schemas.microsoft.com/office/drawing/2014/main" id="{3FF8677A-9258-7ED2-56E7-5A47CE184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607" y="1994212"/>
            <a:ext cx="7304627" cy="378548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41689B-D9B4-4885-5046-C4F26422E330}"/>
              </a:ext>
            </a:extLst>
          </p:cNvPr>
          <p:cNvSpPr txBox="1">
            <a:spLocks/>
          </p:cNvSpPr>
          <p:nvPr/>
        </p:nvSpPr>
        <p:spPr>
          <a:xfrm>
            <a:off x="470419" y="3004048"/>
            <a:ext cx="4303422" cy="27756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Variables creadas</a:t>
            </a:r>
          </a:p>
          <a:p>
            <a:r>
              <a:rPr lang="es-AR" sz="1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dep_tratado: Comprende a aquellos departamentos provinciales que recibieron adjudicaciones de proyectos de energías renovables del programa RenovAr, en alguna de sus rondas (Ronda 1, Ronda 1,5 y Ronda 2)</a:t>
            </a:r>
          </a:p>
          <a:p>
            <a:endParaRPr lang="es-AR" sz="1600" dirty="0"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s-AR" sz="1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Trimestre</a:t>
            </a:r>
          </a:p>
          <a:p>
            <a:r>
              <a:rPr lang="es-AR" sz="1600" dirty="0"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Log empleo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3734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FFB741-0838-E8E2-96BA-AEB8BC35C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98CFD-CCB2-2CC3-1CBA-D78FBDCC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Análisis Descriptivo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9A2AE90-F58C-89AF-2D8E-DAA8A1A9DA8E}"/>
              </a:ext>
            </a:extLst>
          </p:cNvPr>
          <p:cNvGrpSpPr/>
          <p:nvPr/>
        </p:nvGrpSpPr>
        <p:grpSpPr>
          <a:xfrm>
            <a:off x="7326298" y="231734"/>
            <a:ext cx="4106693" cy="1749466"/>
            <a:chOff x="737675" y="2342964"/>
            <a:chExt cx="3345900" cy="2264597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80E43BC-0183-31BF-AE32-837220D41415}"/>
                </a:ext>
              </a:extLst>
            </p:cNvPr>
            <p:cNvSpPr/>
            <p:nvPr/>
          </p:nvSpPr>
          <p:spPr>
            <a:xfrm>
              <a:off x="737675" y="2342964"/>
              <a:ext cx="3345900" cy="2007540"/>
            </a:xfrm>
            <a:prstGeom prst="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AR" dirty="0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4C1F5BA-40D0-4CE8-66E8-CD1A2E6AED96}"/>
                </a:ext>
              </a:extLst>
            </p:cNvPr>
            <p:cNvSpPr txBox="1"/>
            <p:nvPr/>
          </p:nvSpPr>
          <p:spPr>
            <a:xfrm>
              <a:off x="737675" y="2600021"/>
              <a:ext cx="3345900" cy="200754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 dirty="0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A884D3A-BA82-A2B4-B8B7-F142E9F2A7AD}"/>
              </a:ext>
            </a:extLst>
          </p:cNvPr>
          <p:cNvSpPr txBox="1"/>
          <p:nvPr/>
        </p:nvSpPr>
        <p:spPr>
          <a:xfrm>
            <a:off x="7397481" y="496747"/>
            <a:ext cx="40355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Los sectores con salario en promedio más altos (electricidad, agua y luz y minería) son los que menos gente necesitan en el período de estudio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3" name="Content Placeholder 14">
            <a:extLst>
              <a:ext uri="{FF2B5EF4-FFF2-40B4-BE49-F238E27FC236}">
                <a16:creationId xmlns:a16="http://schemas.microsoft.com/office/drawing/2014/main" id="{E3AE2028-2332-AFF3-EB64-A4E064993B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6954569"/>
              </p:ext>
            </p:extLst>
          </p:nvPr>
        </p:nvGraphicFramePr>
        <p:xfrm>
          <a:off x="610962" y="2408868"/>
          <a:ext cx="4962523" cy="3616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graph of blue bars&#10;&#10;AI-generated content may be incorrect.">
            <a:extLst>
              <a:ext uri="{FF2B5EF4-FFF2-40B4-BE49-F238E27FC236}">
                <a16:creationId xmlns:a16="http://schemas.microsoft.com/office/drawing/2014/main" id="{38031C97-FA91-9929-BB0D-EC2DEEB23A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472" y="2224939"/>
            <a:ext cx="5953125" cy="46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FC5F8-FF5B-4FEB-2B11-A1BBCDDC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E84A27E-D02B-9418-E32D-4C5481015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BD665F2F-9AD7-049C-13E2-D6A01ED2D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2">
            <a:extLst>
              <a:ext uri="{FF2B5EF4-FFF2-40B4-BE49-F238E27FC236}">
                <a16:creationId xmlns:a16="http://schemas.microsoft.com/office/drawing/2014/main" id="{40DEE8D3-EC28-B696-92EF-53B5BE4FB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4">
            <a:extLst>
              <a:ext uri="{FF2B5EF4-FFF2-40B4-BE49-F238E27FC236}">
                <a16:creationId xmlns:a16="http://schemas.microsoft.com/office/drawing/2014/main" id="{E2021AF8-65A4-9EE0-8C9F-BD9FBB94B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D5B253-EDA6-63EC-F788-E0D342675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B6C4E-3C4B-AD99-36D7-279216D8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Hallazgos clave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75DDFBD-7D52-5A2B-3714-73F2C8B2C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25" y="1878278"/>
            <a:ext cx="3138925" cy="2476845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CA661452-1C21-FE33-FC57-9A701943BDA0}"/>
              </a:ext>
            </a:extLst>
          </p:cNvPr>
          <p:cNvGrpSpPr/>
          <p:nvPr/>
        </p:nvGrpSpPr>
        <p:grpSpPr>
          <a:xfrm>
            <a:off x="727410" y="4415809"/>
            <a:ext cx="4310157" cy="2191695"/>
            <a:chOff x="737675" y="2342964"/>
            <a:chExt cx="3345900" cy="2007540"/>
          </a:xfrm>
        </p:grpSpPr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7222712E-7A36-6F3C-B952-A0764323BB41}"/>
                </a:ext>
              </a:extLst>
            </p:cNvPr>
            <p:cNvSpPr/>
            <p:nvPr/>
          </p:nvSpPr>
          <p:spPr>
            <a:xfrm>
              <a:off x="737675" y="2342964"/>
              <a:ext cx="3345900" cy="200754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AR" dirty="0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CD314BA3-6F85-F2B6-CE4D-59EEDD1362E5}"/>
                </a:ext>
              </a:extLst>
            </p:cNvPr>
            <p:cNvSpPr txBox="1"/>
            <p:nvPr/>
          </p:nvSpPr>
          <p:spPr>
            <a:xfrm>
              <a:off x="737675" y="2600021"/>
              <a:ext cx="3345900" cy="146342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 dirty="0"/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C39DB85-557C-AD93-D2CC-F0B00EB5960E}"/>
              </a:ext>
            </a:extLst>
          </p:cNvPr>
          <p:cNvSpPr txBox="1"/>
          <p:nvPr/>
        </p:nvSpPr>
        <p:spPr>
          <a:xfrm>
            <a:off x="727410" y="4525784"/>
            <a:ext cx="438538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s-ES" sz="1600" dirty="0">
                <a:solidFill>
                  <a:schemeClr val="bg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 Gran concentración del empleo en pocos departamentos grandes.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s-ES" sz="1600" dirty="0">
              <a:solidFill>
                <a:schemeClr val="bg1"/>
              </a:solidFill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Promedio: 2.627 trabajadores por departamento, pero con alta dispersión.</a:t>
            </a:r>
          </a:p>
          <a:p>
            <a:pPr lvl="0"/>
            <a:endParaRPr lang="es-ES" sz="1200" dirty="0">
              <a:solidFill>
                <a:schemeClr val="bg1"/>
              </a:solidFill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El 50 % de los departamentos tiene menos de 379 empleados.</a:t>
            </a:r>
          </a:p>
          <a:p>
            <a:pPr lvl="0"/>
            <a:endParaRPr lang="es-ES" sz="1200" dirty="0">
              <a:solidFill>
                <a:schemeClr val="bg1"/>
              </a:solidFill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bg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Existen casos extremos con más de 450.000 trabajadores.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843D9A2-3F14-A586-FC3B-BD7961174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052" y="1811485"/>
            <a:ext cx="4128075" cy="2476846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8C3EB3E-6FE4-7EDB-7DF2-1FFA7300F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557" y="4415809"/>
            <a:ext cx="4600354" cy="696674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59A57D5D-7D59-FD1D-373B-576DE01061D2}"/>
              </a:ext>
            </a:extLst>
          </p:cNvPr>
          <p:cNvGrpSpPr/>
          <p:nvPr/>
        </p:nvGrpSpPr>
        <p:grpSpPr>
          <a:xfrm>
            <a:off x="7326686" y="5217648"/>
            <a:ext cx="4112496" cy="1131393"/>
            <a:chOff x="935937" y="2109951"/>
            <a:chExt cx="3380756" cy="2047928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99A81FBF-53AF-4545-A18C-46FE99A5E155}"/>
                </a:ext>
              </a:extLst>
            </p:cNvPr>
            <p:cNvSpPr/>
            <p:nvPr/>
          </p:nvSpPr>
          <p:spPr>
            <a:xfrm>
              <a:off x="970793" y="2150339"/>
              <a:ext cx="3345900" cy="2007540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AR" dirty="0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3124020-EED3-8A64-54DE-5B16D94635E0}"/>
                </a:ext>
              </a:extLst>
            </p:cNvPr>
            <p:cNvSpPr txBox="1"/>
            <p:nvPr/>
          </p:nvSpPr>
          <p:spPr>
            <a:xfrm>
              <a:off x="935937" y="2109951"/>
              <a:ext cx="3345900" cy="20075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 dirty="0"/>
            </a:p>
          </p:txBody>
        </p:sp>
      </p:grpSp>
      <p:sp>
        <p:nvSpPr>
          <p:cNvPr id="17" name="TextBox 28">
            <a:extLst>
              <a:ext uri="{FF2B5EF4-FFF2-40B4-BE49-F238E27FC236}">
                <a16:creationId xmlns:a16="http://schemas.microsoft.com/office/drawing/2014/main" id="{A9AB9003-4C9F-407B-987A-74A78B3F957B}"/>
              </a:ext>
            </a:extLst>
          </p:cNvPr>
          <p:cNvSpPr txBox="1"/>
          <p:nvPr/>
        </p:nvSpPr>
        <p:spPr>
          <a:xfrm>
            <a:off x="7495141" y="5298319"/>
            <a:ext cx="38179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Presentan niveles de empleo similares, aunque esta comparación global incluye etapas previas y posteriores al tratamiento, por lo que podría ocultar diferencias en la evolución temporal.</a:t>
            </a:r>
            <a:endParaRPr lang="en-US" sz="1400" dirty="0">
              <a:solidFill>
                <a:schemeClr val="bg1"/>
              </a:solidFill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29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CD6AF-F390-3A02-5876-156123D0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F8D1E-879F-DFCE-4BDD-2E0F8A145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97262-8D09-2201-7340-0B86A8D91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74C05F-7AE5-B0E6-5466-C31428E12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BE2FBE-DAB7-31CF-93CB-D65D79114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4A4BB-9423-5B45-EA7A-33D9A190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07" y="816047"/>
            <a:ext cx="10705382" cy="537935"/>
          </a:xfrm>
        </p:spPr>
        <p:txBody>
          <a:bodyPr anchor="ctr">
            <a:noAutofit/>
          </a:bodyPr>
          <a:lstStyle/>
          <a:p>
            <a:r>
              <a:rPr lang="es-AR" sz="4000" noProof="0" dirty="0">
                <a:solidFill>
                  <a:schemeClr val="bg1"/>
                </a:solidFill>
              </a:rPr>
              <a:t>Evolución del empleo asalariado promedio por departamento provincial (2015-2021)</a:t>
            </a:r>
            <a:endParaRPr lang="es-AR" sz="4000" noProof="0" dirty="0">
              <a:solidFill>
                <a:srgbClr val="FFFFFF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E2F2EF-2B5D-00BE-0DC7-068571CA7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548" y="2260110"/>
            <a:ext cx="8616875" cy="369048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AFACC90-4529-196E-9A4E-28BBE3458829}"/>
              </a:ext>
            </a:extLst>
          </p:cNvPr>
          <p:cNvSpPr txBox="1"/>
          <p:nvPr/>
        </p:nvSpPr>
        <p:spPr>
          <a:xfrm>
            <a:off x="2775705" y="6041953"/>
            <a:ext cx="6094562" cy="565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s-AR" sz="1400" noProof="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 empleo promedio se mantuvo estable hasta 2019, cayó con fuerza en 2020 por la pandemia y mostró una leve recuperación en 2021</a:t>
            </a:r>
            <a:r>
              <a:rPr lang="en-US" sz="2000" noProof="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4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D3225A-2028-3AE5-375C-1D01C722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" sz="4000" i="1" dirty="0">
                <a:solidFill>
                  <a:srgbClr val="FFFFFF"/>
                </a:solidFill>
              </a:rPr>
              <a:t>Aplicaciones posibles: Exploración y Predicción del Empleo en Energías Renovables</a:t>
            </a:r>
            <a:endParaRPr lang="es-AR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302D6B6-6569-D13A-7EEA-4E1029053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5371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091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549</Words>
  <Application>Microsoft Office PowerPoint</Application>
  <PresentationFormat>Widescreen</PresentationFormat>
  <Paragraphs>58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ADLaM Display</vt:lpstr>
      <vt:lpstr>Aptos</vt:lpstr>
      <vt:lpstr>Aptos Display</vt:lpstr>
      <vt:lpstr>Arial</vt:lpstr>
      <vt:lpstr>Wingdings</vt:lpstr>
      <vt:lpstr>Office Theme</vt:lpstr>
      <vt:lpstr>Análisis del empleo asalariado y remuneraciones en Argentina.</vt:lpstr>
      <vt:lpstr>Fuente de información</vt:lpstr>
      <vt:lpstr>Nivel de la base de datos</vt:lpstr>
      <vt:lpstr>Preparación de la base de datos </vt:lpstr>
      <vt:lpstr>Análisis Descriptivo</vt:lpstr>
      <vt:lpstr>Hallazgos clave</vt:lpstr>
      <vt:lpstr>Evolución del empleo asalariado promedio por departamento provincial (2015-2021)</vt:lpstr>
      <vt:lpstr>Aplicaciones posibles: Exploración y Predicción del Empleo en Energías Renovables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Meza</dc:creator>
  <cp:lastModifiedBy>Manuel Meza</cp:lastModifiedBy>
  <cp:revision>19</cp:revision>
  <dcterms:created xsi:type="dcterms:W3CDTF">2025-11-04T00:54:48Z</dcterms:created>
  <dcterms:modified xsi:type="dcterms:W3CDTF">2025-11-06T00:30:46Z</dcterms:modified>
</cp:coreProperties>
</file>