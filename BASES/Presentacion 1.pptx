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4"/>
  </p:sldMasterIdLst>
  <p:notesMasterIdLst>
    <p:notesMasterId r:id="rId14"/>
  </p:notesMasterIdLst>
  <p:sldIdLst>
    <p:sldId id="346" r:id="rId5"/>
    <p:sldId id="361" r:id="rId6"/>
    <p:sldId id="362" r:id="rId7"/>
    <p:sldId id="365" r:id="rId8"/>
    <p:sldId id="366" r:id="rId9"/>
    <p:sldId id="367" r:id="rId10"/>
    <p:sldId id="368" r:id="rId11"/>
    <p:sldId id="369" r:id="rId12"/>
    <p:sldId id="3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384957-D0E4-EC2B-51B6-004B97FD46ED}" name="Félix Angel García Aguilar" initials="FG" userId="S::09GA118608741@campus.economicas.uba.ar::0b81d022-ff3c-4478-922e-af351eb378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4" d="100"/>
          <a:sy n="84" d="100"/>
        </p:scale>
        <p:origin x="87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1FA17-7668-43ED-822A-2751C424B795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02EA7-702A-49BA-A9B4-BB771573971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52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4455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51F2-1F84-0185-64A3-7646A141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9607AA-9A6C-CAA4-8199-0A7BBE36C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9DC303-7A08-92E0-7D01-90BC647D8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476D6-B88F-5917-B03E-5832D3B53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33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E40C2-7B4F-BB0D-DB56-0FEE603B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CDFF00-CCF6-292F-E494-B80BEBD71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E5BF29-87F4-8B92-621C-C52B896D3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587E03-AFAE-07B3-764B-8F7AA3471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578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58EED-398F-7871-8B0A-9D127250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7D6BB1-2C9B-7469-E8A5-F6E76F3B2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1F231D-4B10-F5D1-8F4D-A704E3FB3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2C33C6-77E4-F369-060A-216FD1F09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543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F737-070F-A4D3-C31A-BD0C933D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017AB1-8E21-1C0C-82A6-6C397B091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AC9010-54EA-0389-247B-3EA518750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EB13AA-5C10-ED42-7E10-5CA912D11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26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92F2-96BB-29C6-8119-12042D3A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81B908-B8F8-5B79-D05B-631BE4F00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672905-ADB1-960F-96CC-31278B87D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269849-A0B5-2001-B189-65BF9C7BF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8438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3F46-172F-071E-8C31-A82CD592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0C2D74-CC14-6887-9CCE-B88DD9BC1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2C51E5-780D-F42E-76CF-FF8818007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FF319E-94A0-DDBF-6C04-C59EFE81A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2374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8E5B-6A09-9DAC-5289-7B2B1248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2424C5-CFF6-18FA-D6AC-3CC715D52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3DAFC79-EFD4-716C-3D26-9AD0EBB84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AD3BF2-E755-736E-57E9-277B13906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8912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127A-337A-87F0-8DA6-4920FF17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63C1BEE-C773-EF06-5DF4-BFF4E6F79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2C1772-B531-1E86-E43F-FF48321D9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23E548-0DFF-745C-1674-409566A93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983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016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6037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984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957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0024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944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645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579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658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526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3677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bre nosot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rtlCol="0" anchor="b" anchorCtr="0"/>
          <a:lstStyle/>
          <a:p>
            <a:pPr rtl="0"/>
            <a:r>
              <a:rPr lang="es-ES" noProof="0"/>
              <a:t>HAGA CLIC PARA EDITAR EL TÍTULO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s-ES"/>
              <a:t>30/10/2024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s-ES" dirty="0"/>
              <a:t>Accura Capital Advisors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rtlCol="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Acerca de</a:t>
            </a:r>
          </a:p>
        </p:txBody>
      </p:sp>
    </p:spTree>
    <p:extLst>
      <p:ext uri="{BB962C8B-B14F-4D97-AF65-F5344CB8AC3E}">
        <p14:creationId xmlns:p14="http://schemas.microsoft.com/office/powerpoint/2010/main" val="421353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produ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 rtlCol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9" name="Marcador de texto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735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23" name="Marcador de texto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rtlCol="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Problema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8" name="Marcador de texto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0" name="Marcador de texto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2" name="Marcador de texto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</p:spTree>
    <p:extLst>
      <p:ext uri="{BB962C8B-B14F-4D97-AF65-F5344CB8AC3E}">
        <p14:creationId xmlns:p14="http://schemas.microsoft.com/office/powerpoint/2010/main" val="2887101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2" name="Marcador de texto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4" name="Marcador de texto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</p:spTree>
    <p:extLst>
      <p:ext uri="{BB962C8B-B14F-4D97-AF65-F5344CB8AC3E}">
        <p14:creationId xmlns:p14="http://schemas.microsoft.com/office/powerpoint/2010/main" val="984849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rtlCol="0"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5079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o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2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 rtlCol="0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3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 rtlCol="0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4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viñeta</a:t>
            </a:r>
          </a:p>
        </p:txBody>
      </p:sp>
      <p:sp>
        <p:nvSpPr>
          <p:cNvPr id="16" name="Marcador de fecha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05975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imagen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s-ES" noProof="0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rtlCol="0"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1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2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3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fecha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</p:spTree>
    <p:extLst>
      <p:ext uri="{BB962C8B-B14F-4D97-AF65-F5344CB8AC3E}">
        <p14:creationId xmlns:p14="http://schemas.microsoft.com/office/powerpoint/2010/main" val="3659138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1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2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3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fecha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78101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rtlCol="0"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199"/>
            <a:ext cx="207818" cy="37496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910505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06A67-F091-43D7-BAA8-008E88ABC4CB}" type="datetimeFigureOut">
              <a:rPr lang="es-PE" smtClean="0"/>
              <a:t>21/10/2025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FC0CC-5AEF-41AF-84F6-36ADB471A1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79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90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gentina.gob.ar/trabajo/estadisticas/observatorio-de-empleo-y-dinamica-empresarial-oede/empleo-y-remuneraciones-po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ublic.tableau.com/app/profile/datosenergia/viz/AdjudicacionesRenovARMINEMArgentina/AdjudicacionesRenovArArgentina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3486"/>
            <a:ext cx="4297680" cy="914400"/>
          </a:xfrm>
        </p:spPr>
        <p:txBody>
          <a:bodyPr rtlCol="0" anchor="b">
            <a:noAutofit/>
          </a:bodyPr>
          <a:lstStyle/>
          <a:p>
            <a:pPr rtl="0"/>
            <a:r>
              <a:rPr lang="es-ES" dirty="0">
                <a:solidFill>
                  <a:schemeClr val="bg1"/>
                </a:solidFill>
              </a:rPr>
              <a:t>ACCURA CAPITAL ADVISORS</a:t>
            </a: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78F7BEC6-D54E-AC28-51E5-F34A7A01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4472225F-C9B9-4587-DB95-C44754A2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1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83" y="72983"/>
            <a:ext cx="4114800" cy="1457703"/>
          </a:xfrm>
        </p:spPr>
        <p:txBody>
          <a:bodyPr rtlCol="0" anchor="b" anchorCtr="0"/>
          <a:lstStyle/>
          <a:p>
            <a:pPr rtl="0"/>
            <a:r>
              <a:rPr lang="es-ES" dirty="0"/>
              <a:t>Fuente de la información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4356EF9-DE60-96C4-D4A7-EAA7A7BEA9B3}"/>
              </a:ext>
            </a:extLst>
          </p:cNvPr>
          <p:cNvSpPr txBox="1"/>
          <p:nvPr/>
        </p:nvSpPr>
        <p:spPr>
          <a:xfrm>
            <a:off x="5995358" y="2886872"/>
            <a:ext cx="6866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Fuente: </a:t>
            </a:r>
            <a:r>
              <a:rPr lang="es-ES" sz="1400" dirty="0">
                <a:hlinkClick r:id="rId3"/>
              </a:rPr>
              <a:t>Empleo y remuneraciones por departamento | Argentina.gob.ar</a:t>
            </a:r>
            <a:endParaRPr lang="es-AR" sz="14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240F2732-0962-ED10-4DA1-C431B29D9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942" y="246476"/>
            <a:ext cx="2077105" cy="869788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A1980AB4-6485-0C45-24E6-EF378DD23F91}"/>
              </a:ext>
            </a:extLst>
          </p:cNvPr>
          <p:cNvSpPr txBox="1"/>
          <p:nvPr/>
        </p:nvSpPr>
        <p:spPr>
          <a:xfrm>
            <a:off x="4055851" y="1297344"/>
            <a:ext cx="7755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Puestos de trabajo asalariados registrado y remuneraciones por departamento y sector </a:t>
            </a:r>
            <a:r>
              <a:rPr lang="es-A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(Enero/2015 - Diciembre/2021)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7A72C51-31BE-77B3-9EFB-C68AFB4D4879}"/>
              </a:ext>
            </a:extLst>
          </p:cNvPr>
          <p:cNvSpPr txBox="1"/>
          <p:nvPr/>
        </p:nvSpPr>
        <p:spPr>
          <a:xfrm>
            <a:off x="4682561" y="1960287"/>
            <a:ext cx="63105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rgbClr val="141414"/>
                </a:solidFill>
                <a:latin typeface="Amasis MT Pro" panose="02040504050005020304" pitchFamily="18" charset="0"/>
                <a:cs typeface="Miriam" panose="020F0502020204030204" pitchFamily="34" charset="-79"/>
              </a:rPr>
              <a:t>C</a:t>
            </a:r>
            <a:r>
              <a:rPr lang="es-ES" sz="1400" b="0" i="0" dirty="0">
                <a:solidFill>
                  <a:srgbClr val="141414"/>
                </a:solidFill>
                <a:effectLst/>
                <a:latin typeface="Amasis MT Pro" panose="02040504050005020304" pitchFamily="18" charset="0"/>
                <a:cs typeface="Miriam" panose="020F0502020204030204" pitchFamily="34" charset="-79"/>
              </a:rPr>
              <a:t>ombina el padrón de inscripción de empresas de AFIP junto con los registros administrativos del Sistema Integrado Previsional Argentino (SIPA) y los registros del sistema Simplificación Registral (SR).</a:t>
            </a:r>
            <a:endParaRPr lang="es-AR" sz="1400" dirty="0">
              <a:latin typeface="Amasis MT Pro" panose="02040504050005020304" pitchFamily="18" charset="0"/>
              <a:cs typeface="Miriam" panose="020F0502020204030204" pitchFamily="34" charset="-79"/>
            </a:endParaRPr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B8352713-D562-5388-D7EE-AE0BF474B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183" y="3410440"/>
            <a:ext cx="2697185" cy="463416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D990D66-145B-560D-CB43-7C1063BD8BFC}"/>
              </a:ext>
            </a:extLst>
          </p:cNvPr>
          <p:cNvSpPr txBox="1"/>
          <p:nvPr/>
        </p:nvSpPr>
        <p:spPr>
          <a:xfrm>
            <a:off x="4055851" y="4021973"/>
            <a:ext cx="7563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Adjudicaciones de proyectos de energías renovables - Programa RenovAr (Noviembre/2016 – Julio 2019)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EE5C5730-B966-5C1C-3D51-19E31649A4AC}"/>
              </a:ext>
            </a:extLst>
          </p:cNvPr>
          <p:cNvSpPr txBox="1"/>
          <p:nvPr/>
        </p:nvSpPr>
        <p:spPr>
          <a:xfrm>
            <a:off x="6685472" y="5741105"/>
            <a:ext cx="5506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/>
              <a:t>Fuente: </a:t>
            </a:r>
            <a:r>
              <a:rPr lang="es-ES" sz="1400" dirty="0">
                <a:solidFill>
                  <a:srgbClr val="9454C3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Adjudicaciones de proyectos de energías renovables - Programa RenovAr - MINEM Argentina | </a:t>
            </a:r>
            <a:r>
              <a:rPr lang="es-ES" sz="1400" dirty="0" err="1">
                <a:solidFill>
                  <a:srgbClr val="9454C3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</a:t>
            </a:r>
            <a:r>
              <a:rPr lang="es-ES" sz="1400" dirty="0">
                <a:solidFill>
                  <a:srgbClr val="9454C3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1400" dirty="0" err="1">
                <a:solidFill>
                  <a:srgbClr val="9454C3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</a:t>
            </a:r>
            <a:endParaRPr lang="es-AR" sz="1400" dirty="0"/>
          </a:p>
          <a:p>
            <a:endParaRPr lang="es-AR" sz="1400" dirty="0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E4EBBD0-9891-94EA-645E-04BDA44825BF}"/>
              </a:ext>
            </a:extLst>
          </p:cNvPr>
          <p:cNvCxnSpPr/>
          <p:nvPr/>
        </p:nvCxnSpPr>
        <p:spPr>
          <a:xfrm>
            <a:off x="5375694" y="3360420"/>
            <a:ext cx="46065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1E6E0DD-55B6-D0D3-756E-67715D0C195A}"/>
              </a:ext>
            </a:extLst>
          </p:cNvPr>
          <p:cNvSpPr txBox="1"/>
          <p:nvPr/>
        </p:nvSpPr>
        <p:spPr>
          <a:xfrm>
            <a:off x="4682561" y="4762468"/>
            <a:ext cx="63105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rgbClr val="141414"/>
                </a:solidFill>
                <a:latin typeface="Amasis MT Pro" panose="02040504050005020304" pitchFamily="18" charset="0"/>
                <a:cs typeface="Miriam" panose="020F0502020204030204" pitchFamily="34" charset="-79"/>
              </a:rPr>
              <a:t>Detalla los proyectos adjudicados en las tres rondas con desglose de Región del país, Provincia, Oferente, Nombre del Proyecto, Potencia (MW) y Precio adjudicado (USD/</a:t>
            </a:r>
            <a:r>
              <a:rPr lang="es-ES" sz="1400" dirty="0" err="1">
                <a:solidFill>
                  <a:srgbClr val="141414"/>
                </a:solidFill>
                <a:latin typeface="Amasis MT Pro" panose="02040504050005020304" pitchFamily="18" charset="0"/>
                <a:cs typeface="Miriam" panose="020F0502020204030204" pitchFamily="34" charset="-79"/>
              </a:rPr>
              <a:t>MWh</a:t>
            </a:r>
            <a:r>
              <a:rPr lang="es-ES" sz="1400" dirty="0">
                <a:solidFill>
                  <a:srgbClr val="141414"/>
                </a:solidFill>
                <a:latin typeface="Amasis MT Pro" panose="02040504050005020304" pitchFamily="18" charset="0"/>
                <a:cs typeface="Miriam" panose="020F0502020204030204" pitchFamily="34" charset="-79"/>
              </a:rPr>
              <a:t>)</a:t>
            </a:r>
            <a:endParaRPr lang="es-AR" sz="1400" dirty="0">
              <a:latin typeface="Amasis MT Pro" panose="02040504050005020304" pitchFamily="18" charset="0"/>
              <a:cs typeface="Miriam" panose="020F0502020204030204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AC48F-E89C-6C07-4B89-33D66437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AE7CAA4-D872-909C-55A4-B29D760C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3486"/>
            <a:ext cx="4297680" cy="914400"/>
          </a:xfrm>
        </p:spPr>
        <p:txBody>
          <a:bodyPr rtlCol="0" anchor="b">
            <a:noAutofit/>
          </a:bodyPr>
          <a:lstStyle/>
          <a:p>
            <a:pPr rtl="0"/>
            <a:r>
              <a:rPr lang="es-ES" dirty="0">
                <a:solidFill>
                  <a:schemeClr val="bg1"/>
                </a:solidFill>
              </a:rPr>
              <a:t>ACCURA CAPITAL ADVISORS</a:t>
            </a: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DF98BAFA-9B38-E70D-6629-E0707172A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B13EAF66-6F49-A2FC-B440-1EB93D13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2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7FBD02-A489-3D8D-0184-36F085018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FE1663C-B8B4-6F5C-F907-50A2729B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69" y="344634"/>
            <a:ext cx="4114800" cy="1457703"/>
          </a:xfrm>
        </p:spPr>
        <p:txBody>
          <a:bodyPr rtlCol="0" anchor="b" anchorCtr="0"/>
          <a:lstStyle/>
          <a:p>
            <a:pPr rtl="0"/>
            <a:r>
              <a:rPr lang="es-ES" dirty="0"/>
              <a:t>Nivel de la base de datos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2636822-0B2B-57DA-2305-59FC6CA1C7C5}"/>
              </a:ext>
            </a:extLst>
          </p:cNvPr>
          <p:cNvSpPr txBox="1"/>
          <p:nvPr/>
        </p:nvSpPr>
        <p:spPr>
          <a:xfrm>
            <a:off x="501770" y="2456469"/>
            <a:ext cx="77551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Nivel: Departamental 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ES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Cobertura temporal: </a:t>
            </a:r>
            <a:r>
              <a:rPr lang="es-A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Noviembre/2015 - Diciembre/2021</a:t>
            </a: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 del empleo formal privado.</a:t>
            </a: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 de proyectos por su ubicación, potencia y tipo de energía.</a:t>
            </a: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Imagen 5" descr="Mapa&#10;&#10;El contenido generado por IA puede ser incorrecto.">
            <a:extLst>
              <a:ext uri="{FF2B5EF4-FFF2-40B4-BE49-F238E27FC236}">
                <a16:creationId xmlns:a16="http://schemas.microsoft.com/office/drawing/2014/main" id="{5401C865-593C-7016-D1DE-00F8B087B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917" y="301982"/>
            <a:ext cx="3079630" cy="598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16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BA39-5F27-2BF8-A362-33BA3A2A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9E8D5CA-279E-0733-FED8-D226595B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3486"/>
            <a:ext cx="4297680" cy="914400"/>
          </a:xfrm>
        </p:spPr>
        <p:txBody>
          <a:bodyPr rtlCol="0" anchor="b">
            <a:noAutofit/>
          </a:bodyPr>
          <a:lstStyle/>
          <a:p>
            <a:pPr rtl="0"/>
            <a:r>
              <a:rPr lang="es-ES" dirty="0">
                <a:solidFill>
                  <a:schemeClr val="bg1"/>
                </a:solidFill>
              </a:rPr>
              <a:t>ACCURA CAPITAL ADVISORS</a:t>
            </a: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2C8C31E4-C3BE-FA8D-48FE-3C7F3524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DB386031-C238-B98F-70BF-5249E968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3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FCD6D3-FB4C-5660-00ED-4C0805D65F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D57F856-D82F-53CF-D1B1-B750C96B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530183"/>
            <a:ext cx="4114800" cy="1457703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es-ES" dirty="0"/>
              <a:t>Limpieza y creación de variables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B54F5A8-29A1-4767-BF7D-7CCB1D5D0E93}"/>
              </a:ext>
            </a:extLst>
          </p:cNvPr>
          <p:cNvSpPr txBox="1"/>
          <p:nvPr/>
        </p:nvSpPr>
        <p:spPr>
          <a:xfrm>
            <a:off x="4038600" y="2200314"/>
            <a:ext cx="77551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Homogeneización de códigos departamentales</a:t>
            </a:r>
          </a:p>
          <a:p>
            <a:endParaRPr lang="es-AR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Variables creadas:</a:t>
            </a:r>
            <a:b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b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AR" dirty="0" err="1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dep_tratado</a:t>
            </a:r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Comprende a aquellos departamentos provinciales que recibieron adjudicaciones de proyectos de energías renovables del programa RenovAr, en alguna de sus rondas (Ronda 1, Ronda 1,5 y Ronda 2)</a:t>
            </a:r>
          </a:p>
          <a:p>
            <a:endParaRPr lang="es-AR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11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C5FB-2FD7-E1EB-AEF2-D5B50E514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5953AA7-6544-4DD8-EC2B-1D265203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3486"/>
            <a:ext cx="4297680" cy="914400"/>
          </a:xfrm>
        </p:spPr>
        <p:txBody>
          <a:bodyPr rtlCol="0" anchor="b">
            <a:noAutofit/>
          </a:bodyPr>
          <a:lstStyle/>
          <a:p>
            <a:pPr rtl="0"/>
            <a:r>
              <a:rPr lang="es-ES" dirty="0">
                <a:solidFill>
                  <a:schemeClr val="bg1"/>
                </a:solidFill>
              </a:rPr>
              <a:t>ACCURA CAPITAL ADVISORS</a:t>
            </a: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5CA24365-02E5-1855-17EB-5F69701E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DCEE747D-206B-C753-A834-60D1F0E7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4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5BC87F-03A8-BB7F-D5E6-64DD6A3C68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BE9B668C-35D4-F8EA-092A-74239AE5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530183"/>
            <a:ext cx="4114800" cy="1457703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es-ES" dirty="0"/>
              <a:t>Variables de interés</a:t>
            </a:r>
            <a:br>
              <a:rPr lang="es-ES" dirty="0"/>
            </a:br>
            <a:endParaRPr lang="es-ES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4468E5-7487-590B-6D5A-D374A2032F82}"/>
              </a:ext>
            </a:extLst>
          </p:cNvPr>
          <p:cNvSpPr txBox="1"/>
          <p:nvPr/>
        </p:nvSpPr>
        <p:spPr>
          <a:xfrm>
            <a:off x="512551" y="1731684"/>
            <a:ext cx="39832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Empleo total y sectoriales.</a:t>
            </a:r>
            <a:b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s-AR" i="0" dirty="0">
              <a:solidFill>
                <a:srgbClr val="141414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Ln de empleo total y sectoriales.</a:t>
            </a:r>
          </a:p>
          <a:p>
            <a:endParaRPr lang="es-AR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Potencia instalada y tipo de tecnología (solar, eólica, biomasa)</a:t>
            </a:r>
          </a:p>
          <a:p>
            <a:endParaRPr lang="es-AR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Densidad poblacional y estructura productiva.</a:t>
            </a:r>
          </a:p>
          <a:p>
            <a:endParaRPr lang="es-AR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i="0" dirty="0">
                <a:solidFill>
                  <a:srgbClr val="141414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Evolución de empleo post-adjudicación.</a:t>
            </a: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87032B-81DB-43A8-6E82-1EF5103E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913" y="332159"/>
            <a:ext cx="4880555" cy="29022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996A67-E0CC-43D3-B5C3-DCE2ECD33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379" y="3542260"/>
            <a:ext cx="4986936" cy="281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8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F9BE-6731-BF7B-9130-777A3D35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EF8D1119-2EDA-A4EC-0FC5-907EA3A6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0861A919-A354-38D4-2C0E-89BB43BC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5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57EA60-0566-8CC2-0148-1B5FF8F535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4A4E50-51A7-EC8D-B7CF-052CD388B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114" y="286786"/>
            <a:ext cx="7970412" cy="34022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F802C9D-7AAE-D6F0-FC47-9715150206D2}"/>
              </a:ext>
            </a:extLst>
          </p:cNvPr>
          <p:cNvSpPr txBox="1"/>
          <p:nvPr/>
        </p:nvSpPr>
        <p:spPr>
          <a:xfrm>
            <a:off x="3611880" y="5356267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B9CF202-E0BF-A9B6-2400-19F6F7658115}"/>
              </a:ext>
            </a:extLst>
          </p:cNvPr>
          <p:cNvSpPr txBox="1"/>
          <p:nvPr/>
        </p:nvSpPr>
        <p:spPr>
          <a:xfrm>
            <a:off x="468630" y="3676590"/>
            <a:ext cx="115176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⭐Cada </a:t>
            </a:r>
            <a:r>
              <a:rPr lang="es-ES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trimestre cuenta con aproximadamente 10.482 registros, lo que indica una cobertura temporal uniforme en la base de datos.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frecuencia constante permite realizar comparaciones entre trimestres sin sesgo por cantidad de observaciones.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Este gráfico sirve como control visual para verificar que los datos estén equilibrados en el tiempo; no se observan variaciones relevantes en la altura de las barras.</a:t>
            </a: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1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0CCD5-8348-6477-9A10-9CA5868B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39E0A4E8-4114-7D26-712E-1F5802A9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289D15A8-CB13-012B-F994-659A1228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6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F5E3ED-0877-BB93-7CBE-0932FEC2FA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9B0FAED-9479-9F1B-19EE-0DF022608A22}"/>
              </a:ext>
            </a:extLst>
          </p:cNvPr>
          <p:cNvSpPr txBox="1"/>
          <p:nvPr/>
        </p:nvSpPr>
        <p:spPr>
          <a:xfrm>
            <a:off x="3611880" y="5356267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365DB-D051-2D79-9F93-9956A6C19447}"/>
              </a:ext>
            </a:extLst>
          </p:cNvPr>
          <p:cNvSpPr txBox="1"/>
          <p:nvPr/>
        </p:nvSpPr>
        <p:spPr>
          <a:xfrm>
            <a:off x="342900" y="4673038"/>
            <a:ext cx="118491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/>
              <a:t>La </a:t>
            </a:r>
            <a:r>
              <a:rPr lang="es-ES" b="1" dirty="0"/>
              <a:t>mediana y los percentiles superiores</a:t>
            </a:r>
            <a:r>
              <a:rPr lang="es-ES" dirty="0"/>
              <a:t> son mayores en departamentos tratados, a pesar de que la media global es ligeramente menor.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/>
              <a:t>Esto sugiere que los departamentos tratados presentan </a:t>
            </a:r>
            <a:r>
              <a:rPr lang="es-ES" b="1" dirty="0"/>
              <a:t>concentraciones de empleo más altas</a:t>
            </a:r>
            <a:r>
              <a:rPr lang="es-ES" dirty="0"/>
              <a:t> en algunos casos.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/>
              <a:t>La escala logarítmica facilita la visualización de la dispersión y reduce el efecto de outliers extremos.</a:t>
            </a:r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s-A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12EEE15-BE5E-CFDB-4086-727E09664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07" y="854033"/>
            <a:ext cx="6365985" cy="3817038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BE41A2E-EFA4-B9DE-0E7E-F6DC86429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965133"/>
              </p:ext>
            </p:extLst>
          </p:nvPr>
        </p:nvGraphicFramePr>
        <p:xfrm>
          <a:off x="3670298" y="206333"/>
          <a:ext cx="4851401" cy="647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6622">
                  <a:extLst>
                    <a:ext uri="{9D8B030D-6E8A-4147-A177-3AD203B41FA5}">
                      <a16:colId xmlns:a16="http://schemas.microsoft.com/office/drawing/2014/main" val="1125365262"/>
                    </a:ext>
                  </a:extLst>
                </a:gridCol>
                <a:gridCol w="1170044">
                  <a:extLst>
                    <a:ext uri="{9D8B030D-6E8A-4147-A177-3AD203B41FA5}">
                      <a16:colId xmlns:a16="http://schemas.microsoft.com/office/drawing/2014/main" val="3044524044"/>
                    </a:ext>
                  </a:extLst>
                </a:gridCol>
                <a:gridCol w="545386">
                  <a:extLst>
                    <a:ext uri="{9D8B030D-6E8A-4147-A177-3AD203B41FA5}">
                      <a16:colId xmlns:a16="http://schemas.microsoft.com/office/drawing/2014/main" val="1635430027"/>
                    </a:ext>
                  </a:extLst>
                </a:gridCol>
                <a:gridCol w="722954">
                  <a:extLst>
                    <a:ext uri="{9D8B030D-6E8A-4147-A177-3AD203B41FA5}">
                      <a16:colId xmlns:a16="http://schemas.microsoft.com/office/drawing/2014/main" val="3242803344"/>
                    </a:ext>
                  </a:extLst>
                </a:gridCol>
                <a:gridCol w="355135">
                  <a:extLst>
                    <a:ext uri="{9D8B030D-6E8A-4147-A177-3AD203B41FA5}">
                      <a16:colId xmlns:a16="http://schemas.microsoft.com/office/drawing/2014/main" val="2314720168"/>
                    </a:ext>
                  </a:extLst>
                </a:gridCol>
                <a:gridCol w="409040">
                  <a:extLst>
                    <a:ext uri="{9D8B030D-6E8A-4147-A177-3AD203B41FA5}">
                      <a16:colId xmlns:a16="http://schemas.microsoft.com/office/drawing/2014/main" val="1715291705"/>
                    </a:ext>
                  </a:extLst>
                </a:gridCol>
                <a:gridCol w="672220">
                  <a:extLst>
                    <a:ext uri="{9D8B030D-6E8A-4147-A177-3AD203B41FA5}">
                      <a16:colId xmlns:a16="http://schemas.microsoft.com/office/drawing/2014/main" val="4144381749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dep_tratado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Observaciones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Media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Mediana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P25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P75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</a:rPr>
                        <a:t>Máximo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39789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0 (no tratado)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168.117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2.696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339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102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1.329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450.252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90857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 (tratado)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35.031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2.297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710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179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2.430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</a:rPr>
                        <a:t>53.346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3876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977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004B8-2E2E-B63D-771C-D35F609A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7CDE05F2-D92A-836D-E39C-70FCC206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F6269FD5-D623-C3F6-503E-EA599742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7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C17CE1-22EE-CDFD-C31F-6CBBD84875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A9F9A305-3B9F-4DF6-F8FB-20ECC807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530183"/>
            <a:ext cx="4114800" cy="1457703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es-ES" dirty="0"/>
              <a:t>Variables de interés</a:t>
            </a:r>
            <a:br>
              <a:rPr lang="es-ES" dirty="0"/>
            </a:b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BB0B2D-B8BE-58E0-3BFB-4309BD6F4147}"/>
              </a:ext>
            </a:extLst>
          </p:cNvPr>
          <p:cNvSpPr txBox="1"/>
          <p:nvPr/>
        </p:nvSpPr>
        <p:spPr>
          <a:xfrm>
            <a:off x="3611880" y="5356267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5989CA-3264-A926-9CF3-228AF2018DF6}"/>
              </a:ext>
            </a:extLst>
          </p:cNvPr>
          <p:cNvSpPr txBox="1"/>
          <p:nvPr/>
        </p:nvSpPr>
        <p:spPr>
          <a:xfrm>
            <a:off x="4495802" y="3785264"/>
            <a:ext cx="6640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 </a:t>
            </a:r>
            <a:r>
              <a:rPr lang="es-ES" sz="1600" dirty="0"/>
              <a:t>Los sectores de </a:t>
            </a:r>
            <a:r>
              <a:rPr lang="es-ES" sz="1600" b="1" dirty="0"/>
              <a:t>Servicios e Industria</a:t>
            </a:r>
            <a:r>
              <a:rPr lang="es-ES" sz="1600" dirty="0"/>
              <a:t> concentran la mayor parte del empleo, mientras que sectores como </a:t>
            </a:r>
            <a:r>
              <a:rPr lang="es-ES" sz="1600" b="1" dirty="0" err="1"/>
              <a:t>Elec</a:t>
            </a:r>
            <a:r>
              <a:rPr lang="es-ES" sz="1600" b="1" dirty="0"/>
              <a:t>, gas y agua</a:t>
            </a:r>
            <a:r>
              <a:rPr lang="es-ES" sz="1600" dirty="0"/>
              <a:t> o </a:t>
            </a:r>
            <a:r>
              <a:rPr lang="es-ES" sz="1600" b="1" dirty="0"/>
              <a:t>minería</a:t>
            </a:r>
            <a:r>
              <a:rPr lang="es-ES" sz="1600" dirty="0"/>
              <a:t> tienen menor cantidad de registros, pero con mayor dispersión salarial.</a:t>
            </a:r>
          </a:p>
          <a:p>
            <a:endParaRPr lang="es-ES" sz="1600" dirty="0"/>
          </a:p>
          <a:p>
            <a:r>
              <a:rPr lang="es-AR" sz="1600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 </a:t>
            </a:r>
            <a:r>
              <a:rPr lang="es-ES" sz="1600" dirty="0"/>
              <a:t>El uso de escala logarítmica permite comparar sectores con magnitudes muy diferentes sin que los sectores más grandes dominen la visualización.</a:t>
            </a:r>
          </a:p>
          <a:p>
            <a:endParaRPr lang="es-ES" sz="1600" dirty="0"/>
          </a:p>
          <a:p>
            <a:r>
              <a:rPr lang="es-AR" sz="1600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 </a:t>
            </a:r>
            <a:r>
              <a:rPr lang="es-ES" sz="1600" dirty="0"/>
              <a:t>El gráfico evidencia claramente la heterogeneidad entre sectores en términos de concentración de empleo.</a:t>
            </a:r>
            <a:endParaRPr lang="es-AR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B2B2FE-1EC4-1DE7-FD88-A08152B2C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733" y="319405"/>
            <a:ext cx="8072587" cy="3465859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978D6E3-28F6-2E2F-5E38-84653F9D1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667750"/>
              </p:ext>
            </p:extLst>
          </p:nvPr>
        </p:nvGraphicFramePr>
        <p:xfrm>
          <a:off x="623570" y="3791053"/>
          <a:ext cx="3416301" cy="1847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3015">
                  <a:extLst>
                    <a:ext uri="{9D8B030D-6E8A-4147-A177-3AD203B41FA5}">
                      <a16:colId xmlns:a16="http://schemas.microsoft.com/office/drawing/2014/main" val="232181216"/>
                    </a:ext>
                  </a:extLst>
                </a:gridCol>
                <a:gridCol w="545593">
                  <a:extLst>
                    <a:ext uri="{9D8B030D-6E8A-4147-A177-3AD203B41FA5}">
                      <a16:colId xmlns:a16="http://schemas.microsoft.com/office/drawing/2014/main" val="2951994214"/>
                    </a:ext>
                  </a:extLst>
                </a:gridCol>
                <a:gridCol w="723228">
                  <a:extLst>
                    <a:ext uri="{9D8B030D-6E8A-4147-A177-3AD203B41FA5}">
                      <a16:colId xmlns:a16="http://schemas.microsoft.com/office/drawing/2014/main" val="2276943309"/>
                    </a:ext>
                  </a:extLst>
                </a:gridCol>
                <a:gridCol w="355270">
                  <a:extLst>
                    <a:ext uri="{9D8B030D-6E8A-4147-A177-3AD203B41FA5}">
                      <a16:colId xmlns:a16="http://schemas.microsoft.com/office/drawing/2014/main" val="1916515364"/>
                    </a:ext>
                  </a:extLst>
                </a:gridCol>
                <a:gridCol w="409195">
                  <a:extLst>
                    <a:ext uri="{9D8B030D-6E8A-4147-A177-3AD203B41FA5}">
                      <a16:colId xmlns:a16="http://schemas.microsoft.com/office/drawing/2014/main" val="4078345216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Sector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Media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Mediana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P25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P75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61121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Servicios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6.466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626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165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2.951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89843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</a:rPr>
                        <a:t>Industria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2.988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735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143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2.953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75556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Comercio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2.415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475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135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1.875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69851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Construcción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1.276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277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87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1.290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1356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Agricultura, ganadería y pesca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758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351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130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800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150355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Otros sectores menores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&lt;1.000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...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</a:rPr>
                        <a:t>...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</a:rPr>
                        <a:t>...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masis MT Pro Medium" panose="020406040500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977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26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D46B-E585-7F8E-1380-4EDADF13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0F4CA308-F74F-572E-B0CF-E9B6EA06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B5898F9D-317E-95EA-B911-36821E7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8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F2D7A3-B7A4-DD47-E97A-B221BB1FE6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C7C1840-DFC6-184F-78FF-2674ACD8C017}"/>
              </a:ext>
            </a:extLst>
          </p:cNvPr>
          <p:cNvSpPr txBox="1"/>
          <p:nvPr/>
        </p:nvSpPr>
        <p:spPr>
          <a:xfrm>
            <a:off x="3611880" y="5356267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4D9E5BE-91CA-C8C2-C337-DE8BD0947F21}"/>
              </a:ext>
            </a:extLst>
          </p:cNvPr>
          <p:cNvSpPr txBox="1"/>
          <p:nvPr/>
        </p:nvSpPr>
        <p:spPr>
          <a:xfrm>
            <a:off x="365760" y="4230588"/>
            <a:ext cx="117233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/>
              <a:t> El empleo promedio se mantiene </a:t>
            </a:r>
            <a:r>
              <a:rPr lang="es-ES" b="1" dirty="0"/>
              <a:t>estable a lo largo del tiempo</a:t>
            </a:r>
            <a:r>
              <a:rPr lang="es-ES" dirty="0"/>
              <a:t>, con ligeras fluctuaciones sin tendencias drásticas.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dirty="0">
                <a:solidFill>
                  <a:srgbClr val="14141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⭐</a:t>
            </a:r>
            <a:r>
              <a:rPr lang="es-ES" dirty="0"/>
              <a:t> La representación mediante promedio permite </a:t>
            </a:r>
            <a:r>
              <a:rPr lang="es-ES" b="1" dirty="0"/>
              <a:t>observar la tendencia general</a:t>
            </a:r>
            <a:r>
              <a:rPr lang="es-ES" dirty="0"/>
              <a:t> sin que los outliers extremos distorsionen la visualización.</a:t>
            </a:r>
          </a:p>
          <a:p>
            <a:endParaRPr lang="es-ES" dirty="0">
              <a:solidFill>
                <a:srgbClr val="14141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D150DF-0CCC-513D-6F6E-8602B8976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48" y="202765"/>
            <a:ext cx="9227143" cy="393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70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5495-1EE9-5917-F247-2730C4F8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ED1811E2-A7EB-6501-64D9-C0A8FE66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Grupo #3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270C0AF6-C062-F3B6-3118-01A41797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9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25F06E-DCAD-1231-8D33-F09CE65093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3720" y="-68580"/>
            <a:ext cx="1737360" cy="6858000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endParaRPr lang="es-ES" sz="5400" b="1" dirty="0"/>
          </a:p>
          <a:p>
            <a:pPr rtl="0">
              <a:spcAft>
                <a:spcPts val="600"/>
              </a:spcAft>
            </a:pPr>
            <a:endParaRPr lang="es-ES" sz="5400" b="1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F3CA36A-226D-0ECA-7D84-7A4C1BAD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2" y="998813"/>
            <a:ext cx="4114800" cy="1457703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es-ES" dirty="0"/>
              <a:t>Exploraciones posibles con las bases</a:t>
            </a:r>
            <a:br>
              <a:rPr lang="es-ES" dirty="0"/>
            </a:b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1230608-DFA3-7175-9248-EB90CC5A8865}"/>
              </a:ext>
            </a:extLst>
          </p:cNvPr>
          <p:cNvSpPr txBox="1"/>
          <p:nvPr/>
        </p:nvSpPr>
        <p:spPr>
          <a:xfrm>
            <a:off x="3611880" y="5356267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49173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905ffe-b415-4dd9-993b-62293255a22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FD5E9744354F24E8F372A1FF63F023A" ma:contentTypeVersion="6" ma:contentTypeDescription="Crear nuevo documento." ma:contentTypeScope="" ma:versionID="496a741afc57b6304017bac74cecb7a3">
  <xsd:schema xmlns:xsd="http://www.w3.org/2001/XMLSchema" xmlns:xs="http://www.w3.org/2001/XMLSchema" xmlns:p="http://schemas.microsoft.com/office/2006/metadata/properties" xmlns:ns3="e0905ffe-b415-4dd9-993b-62293255a222" targetNamespace="http://schemas.microsoft.com/office/2006/metadata/properties" ma:root="true" ma:fieldsID="f224eff9e2a7466a4d8ac2651d1f2cb4" ns3:_="">
    <xsd:import namespace="e0905ffe-b415-4dd9-993b-62293255a22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05ffe-b415-4dd9-993b-62293255a22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AE3DE8-4AE1-44FB-BCAD-236081165946}">
  <ds:schemaRefs>
    <ds:schemaRef ds:uri="e0905ffe-b415-4dd9-993b-62293255a222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2D0A2392-3CC6-4B96-A748-BAB6645925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8F3AED-66A1-4C97-81C3-38C82A8DFD47}">
  <ds:schemaRefs>
    <ds:schemaRef ds:uri="e0905ffe-b415-4dd9-993b-62293255a2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</TotalTime>
  <Words>648</Words>
  <Application>Microsoft Office PowerPoint</Application>
  <PresentationFormat>Panorámica</PresentationFormat>
  <Paragraphs>136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ADLaM Display</vt:lpstr>
      <vt:lpstr>Amasis MT Pro</vt:lpstr>
      <vt:lpstr>Amasis MT Pro Medium</vt:lpstr>
      <vt:lpstr>Aptos</vt:lpstr>
      <vt:lpstr>Aptos Display</vt:lpstr>
      <vt:lpstr>Arial</vt:lpstr>
      <vt:lpstr>Source Sans Pro ExtraLight</vt:lpstr>
      <vt:lpstr>Office Theme</vt:lpstr>
      <vt:lpstr>ACCURA CAPITAL ADVISORS</vt:lpstr>
      <vt:lpstr>ACCURA CAPITAL ADVISORS</vt:lpstr>
      <vt:lpstr>ACCURA CAPITAL ADVISORS</vt:lpstr>
      <vt:lpstr>ACCURA CAPITAL ADVISORS</vt:lpstr>
      <vt:lpstr>Presentación de PowerPoint</vt:lpstr>
      <vt:lpstr>Presentación de PowerPoint</vt:lpstr>
      <vt:lpstr>Variables de interés </vt:lpstr>
      <vt:lpstr>Presentación de PowerPoint</vt:lpstr>
      <vt:lpstr>Exploraciones posibles con las bases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 CAPITAL ADVISORS</dc:title>
  <dc:creator>Félix Angel García Aguilar</dc:creator>
  <cp:lastModifiedBy>Maximiliano Gabriel Pardini</cp:lastModifiedBy>
  <cp:revision>61</cp:revision>
  <dcterms:created xsi:type="dcterms:W3CDTF">2024-12-01T23:33:33Z</dcterms:created>
  <dcterms:modified xsi:type="dcterms:W3CDTF">2025-10-21T21:22:37Z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0x0101003FD5E9744354F24E8F372A1FF63F023A</vt:lpwstr>
  </property>
</Properties>
</file>