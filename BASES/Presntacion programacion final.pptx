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8842C6-CE07-461D-AC05-00581CA8864F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7D9C654-CD8A-4B01-BD76-C927AAF8196F}">
      <dgm:prSet/>
      <dgm:spPr/>
      <dgm:t>
        <a:bodyPr/>
        <a:lstStyle/>
        <a:p>
          <a:r>
            <a:rPr lang="es-ES" dirty="0"/>
            <a:t>Análisis de empleo total y por sectores económicos.
</a:t>
          </a:r>
          <a:endParaRPr lang="en-US" dirty="0"/>
        </a:p>
      </dgm:t>
    </dgm:pt>
    <dgm:pt modelId="{70F96415-D975-4AAE-BD72-E6238632612E}" type="parTrans" cxnId="{8DC401AC-8084-46A9-9593-7F6B564FDC95}">
      <dgm:prSet/>
      <dgm:spPr/>
      <dgm:t>
        <a:bodyPr/>
        <a:lstStyle/>
        <a:p>
          <a:endParaRPr lang="en-US"/>
        </a:p>
      </dgm:t>
    </dgm:pt>
    <dgm:pt modelId="{8B833C51-A7A4-4E90-9DE0-8B862DB7CE41}" type="sibTrans" cxnId="{8DC401AC-8084-46A9-9593-7F6B564FDC95}">
      <dgm:prSet/>
      <dgm:spPr/>
      <dgm:t>
        <a:bodyPr/>
        <a:lstStyle/>
        <a:p>
          <a:endParaRPr lang="en-US"/>
        </a:p>
      </dgm:t>
    </dgm:pt>
    <dgm:pt modelId="{4B5B4790-22AF-44F9-B0AD-16793F2AB7CE}">
      <dgm:prSet/>
      <dgm:spPr/>
      <dgm:t>
        <a:bodyPr/>
        <a:lstStyle/>
        <a:p>
          <a:r>
            <a:rPr lang="es-ES"/>
            <a:t>Potencia instalada según tecnología: solar, eólica y biomasa.
</a:t>
          </a:r>
          <a:endParaRPr lang="en-US"/>
        </a:p>
      </dgm:t>
    </dgm:pt>
    <dgm:pt modelId="{F611304A-2A67-4D71-8F0C-BC770444B10E}" type="parTrans" cxnId="{EDDFA9C2-1708-4C2B-99FC-24F008641FCB}">
      <dgm:prSet/>
      <dgm:spPr/>
      <dgm:t>
        <a:bodyPr/>
        <a:lstStyle/>
        <a:p>
          <a:endParaRPr lang="en-US"/>
        </a:p>
      </dgm:t>
    </dgm:pt>
    <dgm:pt modelId="{F449B39D-9499-4685-8E2D-8C0C383F7801}" type="sibTrans" cxnId="{EDDFA9C2-1708-4C2B-99FC-24F008641FCB}">
      <dgm:prSet/>
      <dgm:spPr/>
      <dgm:t>
        <a:bodyPr/>
        <a:lstStyle/>
        <a:p>
          <a:endParaRPr lang="en-US"/>
        </a:p>
      </dgm:t>
    </dgm:pt>
    <dgm:pt modelId="{8051FB28-0155-426F-9D6A-08BE2AFC4474}">
      <dgm:prSet/>
      <dgm:spPr/>
      <dgm:t>
        <a:bodyPr/>
        <a:lstStyle/>
        <a:p>
          <a:r>
            <a:rPr lang="es-ES"/>
            <a:t>Estudio de la densidad poblacional y estructura productiva.
</a:t>
          </a:r>
          <a:endParaRPr lang="en-US"/>
        </a:p>
      </dgm:t>
    </dgm:pt>
    <dgm:pt modelId="{FC41E14A-4552-42B2-964B-2357854F3437}" type="parTrans" cxnId="{7FB6A671-7AC9-4856-9B6A-91038646A21D}">
      <dgm:prSet/>
      <dgm:spPr/>
      <dgm:t>
        <a:bodyPr/>
        <a:lstStyle/>
        <a:p>
          <a:endParaRPr lang="en-US"/>
        </a:p>
      </dgm:t>
    </dgm:pt>
    <dgm:pt modelId="{43C161BC-DF0D-4007-BAC4-2CBE5D7BB6C7}" type="sibTrans" cxnId="{7FB6A671-7AC9-4856-9B6A-91038646A21D}">
      <dgm:prSet/>
      <dgm:spPr/>
      <dgm:t>
        <a:bodyPr/>
        <a:lstStyle/>
        <a:p>
          <a:endParaRPr lang="en-US"/>
        </a:p>
      </dgm:t>
    </dgm:pt>
    <dgm:pt modelId="{BF015E29-CCBD-4E31-995D-146DFB996E79}">
      <dgm:prSet/>
      <dgm:spPr/>
      <dgm:t>
        <a:bodyPr/>
        <a:lstStyle/>
        <a:p>
          <a:r>
            <a:rPr lang="es-ES"/>
            <a:t>Seguimiento del empleo tras procesos de adjudicación.
</a:t>
          </a:r>
          <a:endParaRPr lang="en-US"/>
        </a:p>
      </dgm:t>
    </dgm:pt>
    <dgm:pt modelId="{28213719-8D61-4F8B-90E8-0C4FF8219E10}" type="parTrans" cxnId="{F6C8CBD4-CA28-4D30-B6AD-6279DBDC373E}">
      <dgm:prSet/>
      <dgm:spPr/>
      <dgm:t>
        <a:bodyPr/>
        <a:lstStyle/>
        <a:p>
          <a:endParaRPr lang="en-US"/>
        </a:p>
      </dgm:t>
    </dgm:pt>
    <dgm:pt modelId="{B0D2DCAF-6237-47F7-8B92-3A195DC82F26}" type="sibTrans" cxnId="{F6C8CBD4-CA28-4D30-B6AD-6279DBDC373E}">
      <dgm:prSet/>
      <dgm:spPr/>
      <dgm:t>
        <a:bodyPr/>
        <a:lstStyle/>
        <a:p>
          <a:endParaRPr lang="en-US"/>
        </a:p>
      </dgm:t>
    </dgm:pt>
    <dgm:pt modelId="{09B5BCDA-37DA-4F1A-A793-8BB9ECF80C51}" type="pres">
      <dgm:prSet presAssocID="{E98842C6-CE07-461D-AC05-00581CA8864F}" presName="diagram" presStyleCnt="0">
        <dgm:presLayoutVars>
          <dgm:dir/>
          <dgm:resizeHandles val="exact"/>
        </dgm:presLayoutVars>
      </dgm:prSet>
      <dgm:spPr/>
    </dgm:pt>
    <dgm:pt modelId="{ECAFBDE3-7926-4A5C-9681-B05EED73495F}" type="pres">
      <dgm:prSet presAssocID="{47D9C654-CD8A-4B01-BD76-C927AAF8196F}" presName="node" presStyleLbl="node1" presStyleIdx="0" presStyleCnt="4">
        <dgm:presLayoutVars>
          <dgm:bulletEnabled val="1"/>
        </dgm:presLayoutVars>
      </dgm:prSet>
      <dgm:spPr/>
    </dgm:pt>
    <dgm:pt modelId="{0F497B2D-E7A3-4E7B-ACCA-AD9C2572D78D}" type="pres">
      <dgm:prSet presAssocID="{8B833C51-A7A4-4E90-9DE0-8B862DB7CE41}" presName="sibTrans" presStyleCnt="0"/>
      <dgm:spPr/>
    </dgm:pt>
    <dgm:pt modelId="{A88D0889-B0F4-4095-8286-37E9657E192C}" type="pres">
      <dgm:prSet presAssocID="{4B5B4790-22AF-44F9-B0AD-16793F2AB7CE}" presName="node" presStyleLbl="node1" presStyleIdx="1" presStyleCnt="4">
        <dgm:presLayoutVars>
          <dgm:bulletEnabled val="1"/>
        </dgm:presLayoutVars>
      </dgm:prSet>
      <dgm:spPr/>
    </dgm:pt>
    <dgm:pt modelId="{EF68075D-CBE7-405C-ADCB-483E949719EC}" type="pres">
      <dgm:prSet presAssocID="{F449B39D-9499-4685-8E2D-8C0C383F7801}" presName="sibTrans" presStyleCnt="0"/>
      <dgm:spPr/>
    </dgm:pt>
    <dgm:pt modelId="{BBA699EA-72DD-4B65-8606-A07E4B936650}" type="pres">
      <dgm:prSet presAssocID="{8051FB28-0155-426F-9D6A-08BE2AFC4474}" presName="node" presStyleLbl="node1" presStyleIdx="2" presStyleCnt="4">
        <dgm:presLayoutVars>
          <dgm:bulletEnabled val="1"/>
        </dgm:presLayoutVars>
      </dgm:prSet>
      <dgm:spPr/>
    </dgm:pt>
    <dgm:pt modelId="{ACE8712D-34D3-4331-BAC1-1817693C6BA1}" type="pres">
      <dgm:prSet presAssocID="{43C161BC-DF0D-4007-BAC4-2CBE5D7BB6C7}" presName="sibTrans" presStyleCnt="0"/>
      <dgm:spPr/>
    </dgm:pt>
    <dgm:pt modelId="{F72C9B82-3C8A-4AC7-BBEB-9867AE38AFC1}" type="pres">
      <dgm:prSet presAssocID="{BF015E29-CCBD-4E31-995D-146DFB996E79}" presName="node" presStyleLbl="node1" presStyleIdx="3" presStyleCnt="4">
        <dgm:presLayoutVars>
          <dgm:bulletEnabled val="1"/>
        </dgm:presLayoutVars>
      </dgm:prSet>
      <dgm:spPr/>
    </dgm:pt>
  </dgm:ptLst>
  <dgm:cxnLst>
    <dgm:cxn modelId="{53AC492F-7642-4F23-9A1A-209B2F06BAA4}" type="presOf" srcId="{E98842C6-CE07-461D-AC05-00581CA8864F}" destId="{09B5BCDA-37DA-4F1A-A793-8BB9ECF80C51}" srcOrd="0" destOrd="0" presId="urn:microsoft.com/office/officeart/2005/8/layout/default"/>
    <dgm:cxn modelId="{7FB6A671-7AC9-4856-9B6A-91038646A21D}" srcId="{E98842C6-CE07-461D-AC05-00581CA8864F}" destId="{8051FB28-0155-426F-9D6A-08BE2AFC4474}" srcOrd="2" destOrd="0" parTransId="{FC41E14A-4552-42B2-964B-2357854F3437}" sibTransId="{43C161BC-DF0D-4007-BAC4-2CBE5D7BB6C7}"/>
    <dgm:cxn modelId="{D908B097-21A5-4F32-8382-0FCCE887D3E1}" type="presOf" srcId="{47D9C654-CD8A-4B01-BD76-C927AAF8196F}" destId="{ECAFBDE3-7926-4A5C-9681-B05EED73495F}" srcOrd="0" destOrd="0" presId="urn:microsoft.com/office/officeart/2005/8/layout/default"/>
    <dgm:cxn modelId="{8DC401AC-8084-46A9-9593-7F6B564FDC95}" srcId="{E98842C6-CE07-461D-AC05-00581CA8864F}" destId="{47D9C654-CD8A-4B01-BD76-C927AAF8196F}" srcOrd="0" destOrd="0" parTransId="{70F96415-D975-4AAE-BD72-E6238632612E}" sibTransId="{8B833C51-A7A4-4E90-9DE0-8B862DB7CE41}"/>
    <dgm:cxn modelId="{12A52DC2-873C-44A2-ACBA-A7D97B79CFDB}" type="presOf" srcId="{8051FB28-0155-426F-9D6A-08BE2AFC4474}" destId="{BBA699EA-72DD-4B65-8606-A07E4B936650}" srcOrd="0" destOrd="0" presId="urn:microsoft.com/office/officeart/2005/8/layout/default"/>
    <dgm:cxn modelId="{EDDFA9C2-1708-4C2B-99FC-24F008641FCB}" srcId="{E98842C6-CE07-461D-AC05-00581CA8864F}" destId="{4B5B4790-22AF-44F9-B0AD-16793F2AB7CE}" srcOrd="1" destOrd="0" parTransId="{F611304A-2A67-4D71-8F0C-BC770444B10E}" sibTransId="{F449B39D-9499-4685-8E2D-8C0C383F7801}"/>
    <dgm:cxn modelId="{F6C8CBD4-CA28-4D30-B6AD-6279DBDC373E}" srcId="{E98842C6-CE07-461D-AC05-00581CA8864F}" destId="{BF015E29-CCBD-4E31-995D-146DFB996E79}" srcOrd="3" destOrd="0" parTransId="{28213719-8D61-4F8B-90E8-0C4FF8219E10}" sibTransId="{B0D2DCAF-6237-47F7-8B92-3A195DC82F26}"/>
    <dgm:cxn modelId="{477DABDF-4071-4EBE-B0DC-93EF8571509F}" type="presOf" srcId="{4B5B4790-22AF-44F9-B0AD-16793F2AB7CE}" destId="{A88D0889-B0F4-4095-8286-37E9657E192C}" srcOrd="0" destOrd="0" presId="urn:microsoft.com/office/officeart/2005/8/layout/default"/>
    <dgm:cxn modelId="{03836FE2-0859-40D4-B84D-3A446FF391C3}" type="presOf" srcId="{BF015E29-CCBD-4E31-995D-146DFB996E79}" destId="{F72C9B82-3C8A-4AC7-BBEB-9867AE38AFC1}" srcOrd="0" destOrd="0" presId="urn:microsoft.com/office/officeart/2005/8/layout/default"/>
    <dgm:cxn modelId="{D0EA99D2-DB25-4172-912B-A5F2160565C5}" type="presParOf" srcId="{09B5BCDA-37DA-4F1A-A793-8BB9ECF80C51}" destId="{ECAFBDE3-7926-4A5C-9681-B05EED73495F}" srcOrd="0" destOrd="0" presId="urn:microsoft.com/office/officeart/2005/8/layout/default"/>
    <dgm:cxn modelId="{5FAA98EF-748D-47D3-968C-092ED40C5BD4}" type="presParOf" srcId="{09B5BCDA-37DA-4F1A-A793-8BB9ECF80C51}" destId="{0F497B2D-E7A3-4E7B-ACCA-AD9C2572D78D}" srcOrd="1" destOrd="0" presId="urn:microsoft.com/office/officeart/2005/8/layout/default"/>
    <dgm:cxn modelId="{8175AF1D-28B7-47CE-95DC-4F5D2421D3C2}" type="presParOf" srcId="{09B5BCDA-37DA-4F1A-A793-8BB9ECF80C51}" destId="{A88D0889-B0F4-4095-8286-37E9657E192C}" srcOrd="2" destOrd="0" presId="urn:microsoft.com/office/officeart/2005/8/layout/default"/>
    <dgm:cxn modelId="{BCF99068-9DA8-40AF-BBCD-B34F20786CA4}" type="presParOf" srcId="{09B5BCDA-37DA-4F1A-A793-8BB9ECF80C51}" destId="{EF68075D-CBE7-405C-ADCB-483E949719EC}" srcOrd="3" destOrd="0" presId="urn:microsoft.com/office/officeart/2005/8/layout/default"/>
    <dgm:cxn modelId="{F4F175DB-0115-47C2-9DE0-FFF84B3D84B7}" type="presParOf" srcId="{09B5BCDA-37DA-4F1A-A793-8BB9ECF80C51}" destId="{BBA699EA-72DD-4B65-8606-A07E4B936650}" srcOrd="4" destOrd="0" presId="urn:microsoft.com/office/officeart/2005/8/layout/default"/>
    <dgm:cxn modelId="{84EC611A-8998-4458-8A85-FD519FB43AB7}" type="presParOf" srcId="{09B5BCDA-37DA-4F1A-A793-8BB9ECF80C51}" destId="{ACE8712D-34D3-4331-BAC1-1817693C6BA1}" srcOrd="5" destOrd="0" presId="urn:microsoft.com/office/officeart/2005/8/layout/default"/>
    <dgm:cxn modelId="{4C337F95-FFD3-4794-9551-7A123F489F15}" type="presParOf" srcId="{09B5BCDA-37DA-4F1A-A793-8BB9ECF80C51}" destId="{F72C9B82-3C8A-4AC7-BBEB-9867AE38AFC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AFBDE3-7926-4A5C-9681-B05EED73495F}">
      <dsp:nvSpPr>
        <dsp:cNvPr id="0" name=""/>
        <dsp:cNvSpPr/>
      </dsp:nvSpPr>
      <dsp:spPr>
        <a:xfrm>
          <a:off x="737675" y="833"/>
          <a:ext cx="3345900" cy="200754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Análisis de empleo total y por sectores económicos.
</a:t>
          </a:r>
          <a:endParaRPr lang="en-US" sz="2400" kern="1200" dirty="0"/>
        </a:p>
      </dsp:txBody>
      <dsp:txXfrm>
        <a:off x="737675" y="833"/>
        <a:ext cx="3345900" cy="2007540"/>
      </dsp:txXfrm>
    </dsp:sp>
    <dsp:sp modelId="{A88D0889-B0F4-4095-8286-37E9657E192C}">
      <dsp:nvSpPr>
        <dsp:cNvPr id="0" name=""/>
        <dsp:cNvSpPr/>
      </dsp:nvSpPr>
      <dsp:spPr>
        <a:xfrm>
          <a:off x="4418166" y="833"/>
          <a:ext cx="3345900" cy="200754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Potencia instalada según tecnología: solar, eólica y biomasa.
</a:t>
          </a:r>
          <a:endParaRPr lang="en-US" sz="2400" kern="1200"/>
        </a:p>
      </dsp:txBody>
      <dsp:txXfrm>
        <a:off x="4418166" y="833"/>
        <a:ext cx="3345900" cy="2007540"/>
      </dsp:txXfrm>
    </dsp:sp>
    <dsp:sp modelId="{BBA699EA-72DD-4B65-8606-A07E4B936650}">
      <dsp:nvSpPr>
        <dsp:cNvPr id="0" name=""/>
        <dsp:cNvSpPr/>
      </dsp:nvSpPr>
      <dsp:spPr>
        <a:xfrm>
          <a:off x="737675" y="2342964"/>
          <a:ext cx="3345900" cy="200754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Estudio de la densidad poblacional y estructura productiva.
</a:t>
          </a:r>
          <a:endParaRPr lang="en-US" sz="2400" kern="1200"/>
        </a:p>
      </dsp:txBody>
      <dsp:txXfrm>
        <a:off x="737675" y="2342964"/>
        <a:ext cx="3345900" cy="2007540"/>
      </dsp:txXfrm>
    </dsp:sp>
    <dsp:sp modelId="{F72C9B82-3C8A-4AC7-BBEB-9867AE38AFC1}">
      <dsp:nvSpPr>
        <dsp:cNvPr id="0" name=""/>
        <dsp:cNvSpPr/>
      </dsp:nvSpPr>
      <dsp:spPr>
        <a:xfrm>
          <a:off x="4418166" y="2342964"/>
          <a:ext cx="3345900" cy="200754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Seguimiento del empleo tras procesos de adjudicación.
</a:t>
          </a:r>
          <a:endParaRPr lang="en-US" sz="2400" kern="1200"/>
        </a:p>
      </dsp:txBody>
      <dsp:txXfrm>
        <a:off x="4418166" y="2342964"/>
        <a:ext cx="3345900" cy="2007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60E8-9A5E-A0F4-16FB-8BDC999C1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4A370-8AA6-9784-5A74-24A321454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DB001-7560-1E35-7964-DD2948CE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AE7E0-9144-236A-C569-0B7DABE2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BD553-BA45-1ABD-4059-1B20397E0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1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6D89-EBB6-579C-4A39-951395BD1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D7589-8C7A-C40E-83D2-3B09DA294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DDD2-6FBE-7DCB-20C7-4D9C4BBD8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0A790-54AF-EBF5-258D-7F3FC686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7997A-9991-1045-41FA-D025AEB5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F996-36FA-2EA4-262F-0466C84D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9C73B-19EA-CF7E-7507-31366E31A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CD25F-11E8-22B0-9949-D6537BDD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087D0-18DB-3309-F6A7-D60DA4C0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9506D-E083-A1A0-5A25-2EC6A9C3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53318-1EE7-2B94-30D4-EE9C53DE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0703B-DE82-1150-57F1-6A528522B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D2847-931F-B477-0169-52E32F02B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9513C-DECD-22D8-D830-B3EA3450E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D242E-FF45-FFD9-39EB-8BA3D1DD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26F4A-1999-9FA0-F069-85A0308A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1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3BA9-165F-0C10-1559-18B8672E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C7DC8-0D1C-650B-3B2F-45CD305E8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E94BA-8EC6-8764-771A-C5D30D68B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103FF-629A-2D0B-5772-36DCABD88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239CDA-C3F3-69BA-E1D0-9AEBAA2D2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A3B39-7FAC-9B38-0812-2D1029DE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1236F2-65B3-937B-83FC-DA22D0AC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DDB9-E5A6-FBD5-DB0E-50747C8F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5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EBF5-F0E2-AC18-BECA-CB8CF110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88802-DD00-FA87-3537-F2ACC1C9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E0AE3-54B1-B454-FF5C-5545DE90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9EF9A-F0DB-B503-3356-5FACBCD6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7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E3EF2-2204-7323-015A-E0515D8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69A090-175E-B9D4-F42D-94494844A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26420-C8A0-0C6E-822C-990B8E71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6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8F1C-1731-190C-4EB7-8C6F84FF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11B07-93F2-9380-E7BC-C9CE80B83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8BFEE-45E3-EB54-8851-D506A2808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9E099-63E0-0B69-BF4D-8FD30B21A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C2B3E-320C-48DE-F8AF-BE915435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7159A-0930-6026-EB9B-F8925DE6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68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772EA-4880-06F0-70F2-A011D9D38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C3A6F-C634-9FB1-AD47-D71A83EE0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CF843-11C0-FECF-F017-084161FEE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64CA9-01EF-6894-FFEE-D73AE7B1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9D99F-F5BB-E9F4-CD18-AC49118EE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CEC21-D1F9-803F-65BE-BA577411E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6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70D1B-9870-ACA4-E909-89F17B0F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C0A72-9643-5AEE-87F8-7577E365D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4334C-B685-0729-BABB-03A09352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34C5D-BD61-8A6C-9D98-347722B3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296FF-F488-8E7B-A985-CF46BA94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66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7ED49-C7C6-5F22-86D8-20F32DB87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0A7D8-B33C-4B25-88B7-E8766135A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E2421-EC5C-7552-0562-834CF5EF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DF1DD-BD53-9E95-1DC7-6057340F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962E3-3215-C265-1321-38E946F6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4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E27BC-192A-4B9C-F75A-F12B869F3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8C794-3CB1-5159-A895-151B1DD17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B474F-0500-E560-A7CF-C399813A1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5B3F0-4CD7-4939-8C66-5D41815329E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AFADA-1A04-9F7E-23E8-6816F6624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302B8-4A14-6FEB-F386-9E746B669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7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BEE18-1E9B-CA96-73B1-0E178C741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s-ES" sz="6800">
                <a:solidFill>
                  <a:srgbClr val="FFFFFF"/>
                </a:solidFill>
              </a:rPr>
              <a:t>Análisis de Impacto del Programa RenovAr en el Empleo Regional</a:t>
            </a:r>
            <a:endParaRPr lang="en-US" sz="6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35621-B525-3C96-1B9E-DB4CC4613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3687" y="5384267"/>
            <a:ext cx="8578699" cy="712492"/>
          </a:xfrm>
        </p:spPr>
        <p:txBody>
          <a:bodyPr>
            <a:normAutofit/>
          </a:bodyPr>
          <a:lstStyle/>
          <a:p>
            <a:pPr algn="l"/>
            <a:r>
              <a:rPr lang="es-ES" sz="2000" dirty="0">
                <a:solidFill>
                  <a:srgbClr val="FFFFFF"/>
                </a:solidFill>
              </a:rPr>
              <a:t>Estudio cuantitativo sobre los efectos de los proyectos de energías renovables en el mercado laboral departamental de Argentina (2015-2021)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36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80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AAF00-01FF-24DE-AD05-034DD51FE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65" y="740107"/>
            <a:ext cx="3201366" cy="2243523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Fuente de la </a:t>
            </a:r>
            <a:r>
              <a:rPr lang="en-US" sz="4000" dirty="0" err="1">
                <a:solidFill>
                  <a:srgbClr val="FFFFFF"/>
                </a:solidFill>
              </a:rPr>
              <a:t>información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4770C-D8A1-7A3F-EE4D-1E3ED1DA3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8" y="490561"/>
            <a:ext cx="6555347" cy="2496491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es-ES" sz="2000" dirty="0"/>
              <a:t>Puestos de trabajo asalariados registrado y remuneraciones por departamento y sector (Enero/2015 - Diciembre/2021). Combina el padrón de inscripción de empresas de AFIP junto con los registros administrativos del Sistema Integrado Previsional Argentino (SIPA) y los registros del sistema Simplificación Registral (SR).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85E092-B172-060B-634B-67EEE3B873BA}"/>
              </a:ext>
            </a:extLst>
          </p:cNvPr>
          <p:cNvSpPr txBox="1">
            <a:spLocks/>
          </p:cNvSpPr>
          <p:nvPr/>
        </p:nvSpPr>
        <p:spPr>
          <a:xfrm>
            <a:off x="4810259" y="3059197"/>
            <a:ext cx="6555347" cy="249649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</a:rPr>
              <a:t>Puestos de trabajo asalariados registrado y remuneraciones por departamento y sector (Enero/2015 - Diciembre/2021). Combina el padrón de inscripción de empresas de AFIP junto con los registros administrativos del Sistema Integrado Previsional Argentino (SIPA) y los registros del sistema Simplificación Registral (SR).</a:t>
            </a:r>
          </a:p>
        </p:txBody>
      </p:sp>
    </p:spTree>
    <p:extLst>
      <p:ext uri="{BB962C8B-B14F-4D97-AF65-F5344CB8AC3E}">
        <p14:creationId xmlns:p14="http://schemas.microsoft.com/office/powerpoint/2010/main" val="1730213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8D1DB-7E7A-179C-4A3F-BE9701C6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5366" y="299509"/>
            <a:ext cx="4395340" cy="154017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Nivel de la base de </a:t>
            </a:r>
            <a:r>
              <a:rPr lang="en-US" sz="5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datos</a:t>
            </a:r>
            <a:endParaRPr lang="en-US" sz="5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Mapa&#10;&#10;El contenido generado por IA puede ser incorrecto.">
            <a:extLst>
              <a:ext uri="{FF2B5EF4-FFF2-40B4-BE49-F238E27FC236}">
                <a16:creationId xmlns:a16="http://schemas.microsoft.com/office/drawing/2014/main" id="{76F5E8A1-D214-9D93-A3B3-AA5014A19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80033" y="299509"/>
            <a:ext cx="3219844" cy="625898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49FAB-CED6-677C-1B65-F7DAE1F13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1964" y="1937658"/>
            <a:ext cx="4480001" cy="4418692"/>
          </a:xfr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Nivel: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Departamental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Cobertura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temporal: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Noviembre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/2015 -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Diciembre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/2021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Análisis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del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empleo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formal privado.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Análisis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de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proyectos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por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su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ubicación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,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potencia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y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tipo</a:t>
            </a:r>
            <a:r>
              <a:rPr lang="en-US" sz="2000" b="1" dirty="0">
                <a:solidFill>
                  <a:schemeClr val="bg1">
                    <a:alpha val="80000"/>
                  </a:schemeClr>
                </a:solidFill>
              </a:rPr>
              <a:t> de </a:t>
            </a:r>
            <a:r>
              <a:rPr lang="en-US" sz="2000" b="1" dirty="0" err="1">
                <a:solidFill>
                  <a:schemeClr val="bg1">
                    <a:alpha val="80000"/>
                  </a:schemeClr>
                </a:solidFill>
              </a:rPr>
              <a:t>energí</a:t>
            </a:r>
            <a:r>
              <a:rPr lang="en-US" sz="2000" b="1" dirty="0" err="1">
                <a:solidFill>
                  <a:schemeClr val="bg1"/>
                </a:solidFill>
              </a:rPr>
              <a:t>a</a:t>
            </a:r>
            <a:r>
              <a:rPr lang="en-US" sz="2000" b="1" dirty="0">
                <a:solidFill>
                  <a:schemeClr val="bg1"/>
                </a:solidFill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bg1"/>
                </a:solidFill>
              </a:rPr>
              <a:t>Cada trimestre cuenta con aproximadamente 10.482 registros, lo que indica una cobertura temporal uniforme en la base de datos.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798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F5E2F-DC47-E74A-A8A5-915996EC5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5200" dirty="0" err="1"/>
              <a:t>Preparacion</a:t>
            </a:r>
            <a:r>
              <a:rPr lang="en-US" sz="5200" dirty="0"/>
              <a:t> de la base de </a:t>
            </a:r>
            <a:r>
              <a:rPr lang="en-US" sz="5200" dirty="0" err="1"/>
              <a:t>datos</a:t>
            </a:r>
            <a:endParaRPr lang="en-US" sz="5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D2AFF-17CF-12F5-F3EB-AB23F05D2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98626"/>
            <a:ext cx="5158427" cy="3730460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AR" sz="2000" i="0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Homogeneización de códigos departamentales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6200D-DFE8-C107-F669-9F0E39B94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9154" y="2398626"/>
            <a:ext cx="5164645" cy="373046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A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Variables creadas:</a:t>
            </a:r>
            <a:br>
              <a:rPr lang="es-A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br>
              <a:rPr lang="es-A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AR" sz="20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dep_tratado</a:t>
            </a:r>
            <a:r>
              <a:rPr lang="es-A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Comprende a aquellos departamentos provinciales que recibieron adjudicaciones de proyectos de energías renovables del programa </a:t>
            </a:r>
            <a:r>
              <a:rPr lang="es-AR" sz="20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RenovAr</a:t>
            </a:r>
            <a:r>
              <a:rPr lang="es-A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en alguna de sus rondas (Ronda 1, Ronda 1,5 y Ronda 2)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50943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90452-E66E-F14C-7165-72170C693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8BBDE7D-BF8D-F51D-C2EE-CD2B8AE20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66872A3-202D-1F52-5824-C6C28EDB3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8671C-0B31-705C-2FAD-3A50E665D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E919EA-B7BD-F4E4-FED1-C7768F89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D7547B-68BC-E3AB-A548-C12247B10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8EC165-5606-C1E6-C06E-FC87C541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F9031E-9E6D-9F22-9ABA-0A0B09AB4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3A718-0D1F-2235-0052-9E8F32337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65" y="740107"/>
            <a:ext cx="3201366" cy="2243523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Variables de </a:t>
            </a:r>
            <a:r>
              <a:rPr lang="en-US" sz="4000" dirty="0" err="1">
                <a:solidFill>
                  <a:srgbClr val="FFFFFF"/>
                </a:solidFill>
              </a:rPr>
              <a:t>interés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51170645-9AD4-33CE-8C77-9BEC7E3F2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7640819"/>
              </p:ext>
            </p:extLst>
          </p:nvPr>
        </p:nvGraphicFramePr>
        <p:xfrm>
          <a:off x="3494315" y="1260735"/>
          <a:ext cx="850174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987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E2A5D-5C27-429B-2CDD-1A0B2B0A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Variable clave: </a:t>
            </a:r>
            <a:r>
              <a:rPr lang="en-US" sz="5200" dirty="0" err="1"/>
              <a:t>dep_tratado</a:t>
            </a:r>
            <a:endParaRPr lang="en-US" sz="5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08C96A-1F5C-3A22-9BF8-DB826A819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19" y="2957665"/>
            <a:ext cx="5577291" cy="334637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9C8D84-1C30-C4F3-CD52-0F36E1FEB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82505" y="4189539"/>
            <a:ext cx="5828261" cy="88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545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EB2E-86D3-FE97-CC6C-30809293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Exploraciones posibles con las bases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2C06F-DA69-F31D-5B15-60787A7FA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810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304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ADLaM Display</vt:lpstr>
      <vt:lpstr>Aptos</vt:lpstr>
      <vt:lpstr>Aptos Display</vt:lpstr>
      <vt:lpstr>Arial</vt:lpstr>
      <vt:lpstr>Office Theme</vt:lpstr>
      <vt:lpstr>Análisis de Impacto del Programa RenovAr en el Empleo Regional</vt:lpstr>
      <vt:lpstr>Fuente de la información</vt:lpstr>
      <vt:lpstr>Nivel de la base de datos</vt:lpstr>
      <vt:lpstr>Preparacion de la base de datos</vt:lpstr>
      <vt:lpstr>Variables de interés</vt:lpstr>
      <vt:lpstr>Variable clave: dep_tratado</vt:lpstr>
      <vt:lpstr>Exploraciones posibles con las bases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Meza</dc:creator>
  <cp:lastModifiedBy>Manuel Meza</cp:lastModifiedBy>
  <cp:revision>1</cp:revision>
  <dcterms:created xsi:type="dcterms:W3CDTF">2025-11-04T00:54:48Z</dcterms:created>
  <dcterms:modified xsi:type="dcterms:W3CDTF">2025-11-04T02:12:46Z</dcterms:modified>
</cp:coreProperties>
</file>