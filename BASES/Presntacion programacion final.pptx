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8842C6-CE07-461D-AC05-00581CA8864F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47D9C654-CD8A-4B01-BD76-C927AAF8196F}">
      <dgm:prSet/>
      <dgm:spPr/>
      <dgm:t>
        <a:bodyPr/>
        <a:lstStyle/>
        <a:p>
          <a:r>
            <a:rPr lang="es-ES" dirty="0"/>
            <a:t>Análisis de empleo total y por sectores económicos.
</a:t>
          </a:r>
          <a:endParaRPr lang="en-US" dirty="0"/>
        </a:p>
      </dgm:t>
    </dgm:pt>
    <dgm:pt modelId="{70F96415-D975-4AAE-BD72-E6238632612E}" type="parTrans" cxnId="{8DC401AC-8084-46A9-9593-7F6B564FDC95}">
      <dgm:prSet/>
      <dgm:spPr/>
      <dgm:t>
        <a:bodyPr/>
        <a:lstStyle/>
        <a:p>
          <a:endParaRPr lang="en-US"/>
        </a:p>
      </dgm:t>
    </dgm:pt>
    <dgm:pt modelId="{8B833C51-A7A4-4E90-9DE0-8B862DB7CE41}" type="sibTrans" cxnId="{8DC401AC-8084-46A9-9593-7F6B564FDC95}">
      <dgm:prSet/>
      <dgm:spPr/>
      <dgm:t>
        <a:bodyPr/>
        <a:lstStyle/>
        <a:p>
          <a:endParaRPr lang="en-US"/>
        </a:p>
      </dgm:t>
    </dgm:pt>
    <dgm:pt modelId="{4B5B4790-22AF-44F9-B0AD-16793F2AB7CE}">
      <dgm:prSet/>
      <dgm:spPr/>
      <dgm:t>
        <a:bodyPr/>
        <a:lstStyle/>
        <a:p>
          <a:r>
            <a:rPr lang="es-ES"/>
            <a:t>Potencia instalada según tecnología: solar, eólica y biomasa.
</a:t>
          </a:r>
          <a:endParaRPr lang="en-US"/>
        </a:p>
      </dgm:t>
    </dgm:pt>
    <dgm:pt modelId="{F611304A-2A67-4D71-8F0C-BC770444B10E}" type="parTrans" cxnId="{EDDFA9C2-1708-4C2B-99FC-24F008641FCB}">
      <dgm:prSet/>
      <dgm:spPr/>
      <dgm:t>
        <a:bodyPr/>
        <a:lstStyle/>
        <a:p>
          <a:endParaRPr lang="en-US"/>
        </a:p>
      </dgm:t>
    </dgm:pt>
    <dgm:pt modelId="{F449B39D-9499-4685-8E2D-8C0C383F7801}" type="sibTrans" cxnId="{EDDFA9C2-1708-4C2B-99FC-24F008641FCB}">
      <dgm:prSet/>
      <dgm:spPr/>
      <dgm:t>
        <a:bodyPr/>
        <a:lstStyle/>
        <a:p>
          <a:endParaRPr lang="en-US"/>
        </a:p>
      </dgm:t>
    </dgm:pt>
    <dgm:pt modelId="{8051FB28-0155-426F-9D6A-08BE2AFC4474}">
      <dgm:prSet/>
      <dgm:spPr/>
      <dgm:t>
        <a:bodyPr/>
        <a:lstStyle/>
        <a:p>
          <a:r>
            <a:rPr lang="es-ES"/>
            <a:t>Estudio de la densidad poblacional y estructura productiva.
</a:t>
          </a:r>
          <a:endParaRPr lang="en-US"/>
        </a:p>
      </dgm:t>
    </dgm:pt>
    <dgm:pt modelId="{FC41E14A-4552-42B2-964B-2357854F3437}" type="parTrans" cxnId="{7FB6A671-7AC9-4856-9B6A-91038646A21D}">
      <dgm:prSet/>
      <dgm:spPr/>
      <dgm:t>
        <a:bodyPr/>
        <a:lstStyle/>
        <a:p>
          <a:endParaRPr lang="en-US"/>
        </a:p>
      </dgm:t>
    </dgm:pt>
    <dgm:pt modelId="{43C161BC-DF0D-4007-BAC4-2CBE5D7BB6C7}" type="sibTrans" cxnId="{7FB6A671-7AC9-4856-9B6A-91038646A21D}">
      <dgm:prSet/>
      <dgm:spPr/>
      <dgm:t>
        <a:bodyPr/>
        <a:lstStyle/>
        <a:p>
          <a:endParaRPr lang="en-US"/>
        </a:p>
      </dgm:t>
    </dgm:pt>
    <dgm:pt modelId="{BF015E29-CCBD-4E31-995D-146DFB996E79}">
      <dgm:prSet/>
      <dgm:spPr/>
      <dgm:t>
        <a:bodyPr/>
        <a:lstStyle/>
        <a:p>
          <a:r>
            <a:rPr lang="es-ES"/>
            <a:t>Seguimiento del empleo tras procesos de adjudicación.
</a:t>
          </a:r>
          <a:endParaRPr lang="en-US"/>
        </a:p>
      </dgm:t>
    </dgm:pt>
    <dgm:pt modelId="{28213719-8D61-4F8B-90E8-0C4FF8219E10}" type="parTrans" cxnId="{F6C8CBD4-CA28-4D30-B6AD-6279DBDC373E}">
      <dgm:prSet/>
      <dgm:spPr/>
      <dgm:t>
        <a:bodyPr/>
        <a:lstStyle/>
        <a:p>
          <a:endParaRPr lang="en-US"/>
        </a:p>
      </dgm:t>
    </dgm:pt>
    <dgm:pt modelId="{B0D2DCAF-6237-47F7-8B92-3A195DC82F26}" type="sibTrans" cxnId="{F6C8CBD4-CA28-4D30-B6AD-6279DBDC373E}">
      <dgm:prSet/>
      <dgm:spPr/>
      <dgm:t>
        <a:bodyPr/>
        <a:lstStyle/>
        <a:p>
          <a:endParaRPr lang="en-US"/>
        </a:p>
      </dgm:t>
    </dgm:pt>
    <dgm:pt modelId="{09B5BCDA-37DA-4F1A-A793-8BB9ECF80C51}" type="pres">
      <dgm:prSet presAssocID="{E98842C6-CE07-461D-AC05-00581CA8864F}" presName="diagram" presStyleCnt="0">
        <dgm:presLayoutVars>
          <dgm:dir/>
          <dgm:resizeHandles val="exact"/>
        </dgm:presLayoutVars>
      </dgm:prSet>
      <dgm:spPr/>
    </dgm:pt>
    <dgm:pt modelId="{ECAFBDE3-7926-4A5C-9681-B05EED73495F}" type="pres">
      <dgm:prSet presAssocID="{47D9C654-CD8A-4B01-BD76-C927AAF8196F}" presName="node" presStyleLbl="node1" presStyleIdx="0" presStyleCnt="4">
        <dgm:presLayoutVars>
          <dgm:bulletEnabled val="1"/>
        </dgm:presLayoutVars>
      </dgm:prSet>
      <dgm:spPr/>
    </dgm:pt>
    <dgm:pt modelId="{0F497B2D-E7A3-4E7B-ACCA-AD9C2572D78D}" type="pres">
      <dgm:prSet presAssocID="{8B833C51-A7A4-4E90-9DE0-8B862DB7CE41}" presName="sibTrans" presStyleCnt="0"/>
      <dgm:spPr/>
    </dgm:pt>
    <dgm:pt modelId="{A88D0889-B0F4-4095-8286-37E9657E192C}" type="pres">
      <dgm:prSet presAssocID="{4B5B4790-22AF-44F9-B0AD-16793F2AB7CE}" presName="node" presStyleLbl="node1" presStyleIdx="1" presStyleCnt="4">
        <dgm:presLayoutVars>
          <dgm:bulletEnabled val="1"/>
        </dgm:presLayoutVars>
      </dgm:prSet>
      <dgm:spPr/>
    </dgm:pt>
    <dgm:pt modelId="{EF68075D-CBE7-405C-ADCB-483E949719EC}" type="pres">
      <dgm:prSet presAssocID="{F449B39D-9499-4685-8E2D-8C0C383F7801}" presName="sibTrans" presStyleCnt="0"/>
      <dgm:spPr/>
    </dgm:pt>
    <dgm:pt modelId="{BBA699EA-72DD-4B65-8606-A07E4B936650}" type="pres">
      <dgm:prSet presAssocID="{8051FB28-0155-426F-9D6A-08BE2AFC4474}" presName="node" presStyleLbl="node1" presStyleIdx="2" presStyleCnt="4">
        <dgm:presLayoutVars>
          <dgm:bulletEnabled val="1"/>
        </dgm:presLayoutVars>
      </dgm:prSet>
      <dgm:spPr/>
    </dgm:pt>
    <dgm:pt modelId="{ACE8712D-34D3-4331-BAC1-1817693C6BA1}" type="pres">
      <dgm:prSet presAssocID="{43C161BC-DF0D-4007-BAC4-2CBE5D7BB6C7}" presName="sibTrans" presStyleCnt="0"/>
      <dgm:spPr/>
    </dgm:pt>
    <dgm:pt modelId="{F72C9B82-3C8A-4AC7-BBEB-9867AE38AFC1}" type="pres">
      <dgm:prSet presAssocID="{BF015E29-CCBD-4E31-995D-146DFB996E79}" presName="node" presStyleLbl="node1" presStyleIdx="3" presStyleCnt="4">
        <dgm:presLayoutVars>
          <dgm:bulletEnabled val="1"/>
        </dgm:presLayoutVars>
      </dgm:prSet>
      <dgm:spPr/>
    </dgm:pt>
  </dgm:ptLst>
  <dgm:cxnLst>
    <dgm:cxn modelId="{53AC492F-7642-4F23-9A1A-209B2F06BAA4}" type="presOf" srcId="{E98842C6-CE07-461D-AC05-00581CA8864F}" destId="{09B5BCDA-37DA-4F1A-A793-8BB9ECF80C51}" srcOrd="0" destOrd="0" presId="urn:microsoft.com/office/officeart/2005/8/layout/default"/>
    <dgm:cxn modelId="{7FB6A671-7AC9-4856-9B6A-91038646A21D}" srcId="{E98842C6-CE07-461D-AC05-00581CA8864F}" destId="{8051FB28-0155-426F-9D6A-08BE2AFC4474}" srcOrd="2" destOrd="0" parTransId="{FC41E14A-4552-42B2-964B-2357854F3437}" sibTransId="{43C161BC-DF0D-4007-BAC4-2CBE5D7BB6C7}"/>
    <dgm:cxn modelId="{D908B097-21A5-4F32-8382-0FCCE887D3E1}" type="presOf" srcId="{47D9C654-CD8A-4B01-BD76-C927AAF8196F}" destId="{ECAFBDE3-7926-4A5C-9681-B05EED73495F}" srcOrd="0" destOrd="0" presId="urn:microsoft.com/office/officeart/2005/8/layout/default"/>
    <dgm:cxn modelId="{8DC401AC-8084-46A9-9593-7F6B564FDC95}" srcId="{E98842C6-CE07-461D-AC05-00581CA8864F}" destId="{47D9C654-CD8A-4B01-BD76-C927AAF8196F}" srcOrd="0" destOrd="0" parTransId="{70F96415-D975-4AAE-BD72-E6238632612E}" sibTransId="{8B833C51-A7A4-4E90-9DE0-8B862DB7CE41}"/>
    <dgm:cxn modelId="{12A52DC2-873C-44A2-ACBA-A7D97B79CFDB}" type="presOf" srcId="{8051FB28-0155-426F-9D6A-08BE2AFC4474}" destId="{BBA699EA-72DD-4B65-8606-A07E4B936650}" srcOrd="0" destOrd="0" presId="urn:microsoft.com/office/officeart/2005/8/layout/default"/>
    <dgm:cxn modelId="{EDDFA9C2-1708-4C2B-99FC-24F008641FCB}" srcId="{E98842C6-CE07-461D-AC05-00581CA8864F}" destId="{4B5B4790-22AF-44F9-B0AD-16793F2AB7CE}" srcOrd="1" destOrd="0" parTransId="{F611304A-2A67-4D71-8F0C-BC770444B10E}" sibTransId="{F449B39D-9499-4685-8E2D-8C0C383F7801}"/>
    <dgm:cxn modelId="{F6C8CBD4-CA28-4D30-B6AD-6279DBDC373E}" srcId="{E98842C6-CE07-461D-AC05-00581CA8864F}" destId="{BF015E29-CCBD-4E31-995D-146DFB996E79}" srcOrd="3" destOrd="0" parTransId="{28213719-8D61-4F8B-90E8-0C4FF8219E10}" sibTransId="{B0D2DCAF-6237-47F7-8B92-3A195DC82F26}"/>
    <dgm:cxn modelId="{477DABDF-4071-4EBE-B0DC-93EF8571509F}" type="presOf" srcId="{4B5B4790-22AF-44F9-B0AD-16793F2AB7CE}" destId="{A88D0889-B0F4-4095-8286-37E9657E192C}" srcOrd="0" destOrd="0" presId="urn:microsoft.com/office/officeart/2005/8/layout/default"/>
    <dgm:cxn modelId="{03836FE2-0859-40D4-B84D-3A446FF391C3}" type="presOf" srcId="{BF015E29-CCBD-4E31-995D-146DFB996E79}" destId="{F72C9B82-3C8A-4AC7-BBEB-9867AE38AFC1}" srcOrd="0" destOrd="0" presId="urn:microsoft.com/office/officeart/2005/8/layout/default"/>
    <dgm:cxn modelId="{D0EA99D2-DB25-4172-912B-A5F2160565C5}" type="presParOf" srcId="{09B5BCDA-37DA-4F1A-A793-8BB9ECF80C51}" destId="{ECAFBDE3-7926-4A5C-9681-B05EED73495F}" srcOrd="0" destOrd="0" presId="urn:microsoft.com/office/officeart/2005/8/layout/default"/>
    <dgm:cxn modelId="{5FAA98EF-748D-47D3-968C-092ED40C5BD4}" type="presParOf" srcId="{09B5BCDA-37DA-4F1A-A793-8BB9ECF80C51}" destId="{0F497B2D-E7A3-4E7B-ACCA-AD9C2572D78D}" srcOrd="1" destOrd="0" presId="urn:microsoft.com/office/officeart/2005/8/layout/default"/>
    <dgm:cxn modelId="{8175AF1D-28B7-47CE-95DC-4F5D2421D3C2}" type="presParOf" srcId="{09B5BCDA-37DA-4F1A-A793-8BB9ECF80C51}" destId="{A88D0889-B0F4-4095-8286-37E9657E192C}" srcOrd="2" destOrd="0" presId="urn:microsoft.com/office/officeart/2005/8/layout/default"/>
    <dgm:cxn modelId="{BCF99068-9DA8-40AF-BBCD-B34F20786CA4}" type="presParOf" srcId="{09B5BCDA-37DA-4F1A-A793-8BB9ECF80C51}" destId="{EF68075D-CBE7-405C-ADCB-483E949719EC}" srcOrd="3" destOrd="0" presId="urn:microsoft.com/office/officeart/2005/8/layout/default"/>
    <dgm:cxn modelId="{F4F175DB-0115-47C2-9DE0-FFF84B3D84B7}" type="presParOf" srcId="{09B5BCDA-37DA-4F1A-A793-8BB9ECF80C51}" destId="{BBA699EA-72DD-4B65-8606-A07E4B936650}" srcOrd="4" destOrd="0" presId="urn:microsoft.com/office/officeart/2005/8/layout/default"/>
    <dgm:cxn modelId="{84EC611A-8998-4458-8A85-FD519FB43AB7}" type="presParOf" srcId="{09B5BCDA-37DA-4F1A-A793-8BB9ECF80C51}" destId="{ACE8712D-34D3-4331-BAC1-1817693C6BA1}" srcOrd="5" destOrd="0" presId="urn:microsoft.com/office/officeart/2005/8/layout/default"/>
    <dgm:cxn modelId="{4C337F95-FFD3-4794-9551-7A123F489F15}" type="presParOf" srcId="{09B5BCDA-37DA-4F1A-A793-8BB9ECF80C51}" destId="{F72C9B82-3C8A-4AC7-BBEB-9867AE38AFC1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AFBDE3-7926-4A5C-9681-B05EED73495F}">
      <dsp:nvSpPr>
        <dsp:cNvPr id="0" name=""/>
        <dsp:cNvSpPr/>
      </dsp:nvSpPr>
      <dsp:spPr>
        <a:xfrm>
          <a:off x="737675" y="833"/>
          <a:ext cx="3345900" cy="200754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 dirty="0"/>
            <a:t>Análisis de empleo total y por sectores económicos.
</a:t>
          </a:r>
          <a:endParaRPr lang="en-US" sz="2400" kern="1200" dirty="0"/>
        </a:p>
      </dsp:txBody>
      <dsp:txXfrm>
        <a:off x="737675" y="833"/>
        <a:ext cx="3345900" cy="2007540"/>
      </dsp:txXfrm>
    </dsp:sp>
    <dsp:sp modelId="{A88D0889-B0F4-4095-8286-37E9657E192C}">
      <dsp:nvSpPr>
        <dsp:cNvPr id="0" name=""/>
        <dsp:cNvSpPr/>
      </dsp:nvSpPr>
      <dsp:spPr>
        <a:xfrm>
          <a:off x="4418166" y="833"/>
          <a:ext cx="3345900" cy="200754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/>
            <a:t>Potencia instalada según tecnología: solar, eólica y biomasa.
</a:t>
          </a:r>
          <a:endParaRPr lang="en-US" sz="2400" kern="1200"/>
        </a:p>
      </dsp:txBody>
      <dsp:txXfrm>
        <a:off x="4418166" y="833"/>
        <a:ext cx="3345900" cy="2007540"/>
      </dsp:txXfrm>
    </dsp:sp>
    <dsp:sp modelId="{BBA699EA-72DD-4B65-8606-A07E4B936650}">
      <dsp:nvSpPr>
        <dsp:cNvPr id="0" name=""/>
        <dsp:cNvSpPr/>
      </dsp:nvSpPr>
      <dsp:spPr>
        <a:xfrm>
          <a:off x="737675" y="2342964"/>
          <a:ext cx="3345900" cy="200754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/>
            <a:t>Estudio de la densidad poblacional y estructura productiva.
</a:t>
          </a:r>
          <a:endParaRPr lang="en-US" sz="2400" kern="1200"/>
        </a:p>
      </dsp:txBody>
      <dsp:txXfrm>
        <a:off x="737675" y="2342964"/>
        <a:ext cx="3345900" cy="2007540"/>
      </dsp:txXfrm>
    </dsp:sp>
    <dsp:sp modelId="{F72C9B82-3C8A-4AC7-BBEB-9867AE38AFC1}">
      <dsp:nvSpPr>
        <dsp:cNvPr id="0" name=""/>
        <dsp:cNvSpPr/>
      </dsp:nvSpPr>
      <dsp:spPr>
        <a:xfrm>
          <a:off x="4418166" y="2342964"/>
          <a:ext cx="3345900" cy="200754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/>
            <a:t>Seguimiento del empleo tras procesos de adjudicación.
</a:t>
          </a:r>
          <a:endParaRPr lang="en-US" sz="2400" kern="1200"/>
        </a:p>
      </dsp:txBody>
      <dsp:txXfrm>
        <a:off x="4418166" y="2342964"/>
        <a:ext cx="3345900" cy="20075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560E8-9A5E-A0F4-16FB-8BDC999C13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14A370-8AA6-9784-5A74-24A3214545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DB001-7560-1E35-7964-DD2948CEB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5B3F0-4CD7-4939-8C66-5D41815329E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AE7E0-9144-236A-C569-0B7DABE2F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BD553-BA45-1ABD-4059-1B20397E0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627A5-BC93-4774-9478-CB0141D90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018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16D89-EBB6-579C-4A39-951395BD1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D7589-8C7A-C40E-83D2-3B09DA294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FDDD2-6FBE-7DCB-20C7-4D9C4BBD8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5B3F0-4CD7-4939-8C66-5D41815329E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0A790-54AF-EBF5-258D-7F3FC6866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7997A-9991-1045-41FA-D025AEB57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627A5-BC93-4774-9478-CB0141D90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664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7F996-36FA-2EA4-262F-0466C84D6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E9C73B-19EA-CF7E-7507-31366E31AE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CD25F-11E8-22B0-9949-D6537BDD7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5B3F0-4CD7-4939-8C66-5D41815329E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087D0-18DB-3309-F6A7-D60DA4C00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9506D-E083-A1A0-5A25-2EC6A9C35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627A5-BC93-4774-9478-CB0141D90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16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53318-1EE7-2B94-30D4-EE9C53DE9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A0703B-DE82-1150-57F1-6A528522B3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5D2847-931F-B477-0169-52E32F02B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9513C-DECD-22D8-D830-B3EA3450E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5B3F0-4CD7-4939-8C66-5D41815329E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6D242E-FF45-FFD9-39EB-8BA3D1DD5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426F4A-1999-9FA0-F069-85A0308A3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627A5-BC93-4774-9478-CB0141D90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512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73BA9-165F-0C10-1559-18B8672E3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C7DC8-0D1C-650B-3B2F-45CD305E82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7E94BA-8EC6-8764-771A-C5D30D68BC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A103FF-629A-2D0B-5772-36DCABD881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239CDA-C3F3-69BA-E1D0-9AEBAA2D23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BA3B39-7FAC-9B38-0812-2D1029DEA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5B3F0-4CD7-4939-8C66-5D41815329E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1236F2-65B3-937B-83FC-DA22D0AC1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1DDDB9-E5A6-FBD5-DB0E-50747C8F6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627A5-BC93-4774-9478-CB0141D90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57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AEBF5-F0E2-AC18-BECA-CB8CF110D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788802-DD00-FA87-3537-F2ACC1C9A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5B3F0-4CD7-4939-8C66-5D41815329E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2E0AE3-54B1-B454-FF5C-5545DE908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19EF9A-F0DB-B503-3356-5FACBCD69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627A5-BC93-4774-9478-CB0141D90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775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0E3EF2-2204-7323-015A-E0515D873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5B3F0-4CD7-4939-8C66-5D41815329E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69A090-175E-B9D4-F42D-94494844A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26420-C8A0-0C6E-822C-990B8E71F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627A5-BC93-4774-9478-CB0141D90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96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F8F1C-1731-190C-4EB7-8C6F84FF4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11B07-93F2-9380-E7BC-C9CE80B83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68BFEE-45E3-EB54-8851-D506A28086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99E099-63E0-0B69-BF4D-8FD30B21A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5B3F0-4CD7-4939-8C66-5D41815329E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5C2B3E-320C-48DE-F8AF-BE915435C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7159A-0930-6026-EB9B-F8925DE63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627A5-BC93-4774-9478-CB0141D90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268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772EA-4880-06F0-70F2-A011D9D38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AC3A6F-C634-9FB1-AD47-D71A83EE0E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5CF843-11C0-FECF-F017-084161FEE3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464CA9-01EF-6894-FFEE-D73AE7B12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5B3F0-4CD7-4939-8C66-5D41815329E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A9D99F-F5BB-E9F4-CD18-AC49118EE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CEC21-D1F9-803F-65BE-BA577411E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627A5-BC93-4774-9478-CB0141D90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468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70D1B-9870-ACA4-E909-89F17B0FD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5C0A72-9643-5AEE-87F8-7577E365D9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4334C-B685-0729-BABB-03A09352C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5B3F0-4CD7-4939-8C66-5D41815329E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34C5D-BD61-8A6C-9D98-347722B39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296FF-F488-8E7B-A985-CF46BA945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627A5-BC93-4774-9478-CB0141D90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666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F7ED49-C7C6-5F22-86D8-20F32DB87F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A0A7D8-B33C-4B25-88B7-E8766135A4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E2421-EC5C-7552-0562-834CF5EFA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5B3F0-4CD7-4939-8C66-5D41815329E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EDF1DD-BD53-9E95-1DC7-6057340F1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B962E3-3215-C265-1321-38E946F6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627A5-BC93-4774-9478-CB0141D90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449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FE27BC-192A-4B9C-F75A-F12B869F3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88C794-3CB1-5159-A895-151B1DD17B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6B474F-0500-E560-A7CF-C399813A19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05B3F0-4CD7-4939-8C66-5D41815329E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8AFADA-1A04-9F7E-23E8-6816F6624B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3302B8-4A14-6FEB-F386-9E746B6695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2627A5-BC93-4774-9478-CB0141D90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475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rgentina.gob.ar/trabajo/estadisticas/observatorio-de-empleo-y-dinamica-empresarial-oede/empleo-y-remuneraciones-po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3BEE18-1E9B-CA96-73B1-0E178C741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94114" y="583345"/>
            <a:ext cx="9146673" cy="4164820"/>
          </a:xfrm>
        </p:spPr>
        <p:txBody>
          <a:bodyPr anchor="t">
            <a:normAutofit/>
          </a:bodyPr>
          <a:lstStyle/>
          <a:p>
            <a:pPr algn="r"/>
            <a:r>
              <a:rPr lang="es-ES" sz="6800" dirty="0">
                <a:solidFill>
                  <a:srgbClr val="FFFFFF"/>
                </a:solidFill>
              </a:rPr>
              <a:t>Análisis del empleo asalariado y remuneraciones en Argentina.</a:t>
            </a:r>
            <a:endParaRPr lang="en-US" sz="68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835621-B525-3C96-1B9E-DB4CC46139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6601" y="4579319"/>
            <a:ext cx="8578699" cy="1626065"/>
          </a:xfrm>
        </p:spPr>
        <p:txBody>
          <a:bodyPr>
            <a:normAutofit/>
          </a:bodyPr>
          <a:lstStyle/>
          <a:p>
            <a:pPr algn="l"/>
            <a:r>
              <a:rPr lang="es-ES" sz="2000" b="1" dirty="0">
                <a:solidFill>
                  <a:srgbClr val="FFFFFF"/>
                </a:solidFill>
              </a:rPr>
              <a:t>Taller de programación, grupo 3.</a:t>
            </a:r>
          </a:p>
          <a:p>
            <a:pPr algn="l"/>
            <a:r>
              <a:rPr lang="en-US" sz="2000" b="1" dirty="0">
                <a:solidFill>
                  <a:srgbClr val="FFFFFF"/>
                </a:solidFill>
              </a:rPr>
              <a:t>Federico Kotzer</a:t>
            </a:r>
          </a:p>
          <a:p>
            <a:pPr algn="l"/>
            <a:r>
              <a:rPr lang="en-US" sz="2000" b="1" dirty="0">
                <a:solidFill>
                  <a:srgbClr val="FFFFFF"/>
                </a:solidFill>
              </a:rPr>
              <a:t>Manuel Meza</a:t>
            </a:r>
          </a:p>
          <a:p>
            <a:pPr algn="l"/>
            <a:r>
              <a:rPr lang="en-US" sz="2000" b="1" dirty="0">
                <a:solidFill>
                  <a:srgbClr val="FFFFFF"/>
                </a:solidFill>
              </a:rPr>
              <a:t>Maximiliano Pardini</a:t>
            </a:r>
          </a:p>
          <a:p>
            <a:pPr algn="l"/>
            <a:endParaRPr lang="en-US" sz="2000" dirty="0">
              <a:solidFill>
                <a:srgbClr val="FFFFFF"/>
              </a:solidFill>
            </a:endParaRPr>
          </a:p>
          <a:p>
            <a:pPr algn="l"/>
            <a:endParaRPr lang="en-US" sz="2000" dirty="0">
              <a:solidFill>
                <a:srgbClr val="FFFFFF"/>
              </a:solidFill>
            </a:endParaRPr>
          </a:p>
        </p:txBody>
      </p:sp>
      <p:sp>
        <p:nvSpPr>
          <p:cNvPr id="36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8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0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6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8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5809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7AAF00-01FF-24DE-AD05-034DD51FE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65" y="740107"/>
            <a:ext cx="3201366" cy="2243523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Fuente de la </a:t>
            </a:r>
            <a:r>
              <a:rPr lang="en-US" sz="4000" dirty="0" err="1">
                <a:solidFill>
                  <a:srgbClr val="FFFFFF"/>
                </a:solidFill>
              </a:rPr>
              <a:t>información</a:t>
            </a:r>
            <a:endParaRPr lang="en-US" sz="4000" dirty="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4770C-D8A1-7A3F-EE4D-1E3ED1DA31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8" y="490561"/>
            <a:ext cx="6555347" cy="2938439"/>
          </a:xfr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r>
              <a:rPr lang="es-ES" sz="2000" dirty="0"/>
              <a:t>Puestos de trabajo asalariados registrado y remuneraciones por departamento y sector.</a:t>
            </a:r>
          </a:p>
          <a:p>
            <a:r>
              <a:rPr lang="es-ES" sz="2000" dirty="0"/>
              <a:t>Combina el padrón de inscripción de empresas de AFIP junto con los registros administrativos del Sistema Integrado Previsional Argentino (SIPA) y los registros del sistema Simplificación Registral (SR).</a:t>
            </a:r>
          </a:p>
        </p:txBody>
      </p:sp>
      <p:pic>
        <p:nvPicPr>
          <p:cNvPr id="4" name="Imagen 43">
            <a:extLst>
              <a:ext uri="{FF2B5EF4-FFF2-40B4-BE49-F238E27FC236}">
                <a16:creationId xmlns:a16="http://schemas.microsoft.com/office/drawing/2014/main" id="{79E0AF5A-C558-D95E-CFE6-057C24920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717" y="3660112"/>
            <a:ext cx="4268427" cy="1787405"/>
          </a:xfrm>
          <a:prstGeom prst="rect">
            <a:avLst/>
          </a:prstGeom>
        </p:spPr>
      </p:pic>
      <p:sp>
        <p:nvSpPr>
          <p:cNvPr id="6" name="CuadroTexto 21">
            <a:extLst>
              <a:ext uri="{FF2B5EF4-FFF2-40B4-BE49-F238E27FC236}">
                <a16:creationId xmlns:a16="http://schemas.microsoft.com/office/drawing/2014/main" id="{BC39EA7E-788B-B6C8-62F7-F97BFD8E1AB3}"/>
              </a:ext>
            </a:extLst>
          </p:cNvPr>
          <p:cNvSpPr txBox="1"/>
          <p:nvPr/>
        </p:nvSpPr>
        <p:spPr>
          <a:xfrm>
            <a:off x="5180257" y="5678629"/>
            <a:ext cx="68663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sz="1400" dirty="0"/>
              <a:t>Fuente: </a:t>
            </a:r>
            <a:r>
              <a:rPr lang="es-ES" sz="1400" dirty="0">
                <a:hlinkClick r:id="rId3"/>
              </a:rPr>
              <a:t>Empleo y remuneraciones por departamento | Argentina.gob.ar</a:t>
            </a:r>
            <a:endParaRPr lang="es-AR" sz="1400" dirty="0"/>
          </a:p>
        </p:txBody>
      </p:sp>
    </p:spTree>
    <p:extLst>
      <p:ext uri="{BB962C8B-B14F-4D97-AF65-F5344CB8AC3E}">
        <p14:creationId xmlns:p14="http://schemas.microsoft.com/office/powerpoint/2010/main" val="1730213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E8D1DB-7E7A-179C-4A3F-BE9701C67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64" y="299509"/>
            <a:ext cx="4448742" cy="1540177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5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Nivel de la base de datos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B49FAB-CED6-677C-1B65-F7DAE1F135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1964" y="1937658"/>
            <a:ext cx="4480001" cy="3136107"/>
          </a:xfr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lIns="91440" tIns="45720" rIns="91440" bIns="45720" rtlCol="0" anchor="t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s-419" sz="2000" b="1" noProof="0" dirty="0">
                <a:solidFill>
                  <a:schemeClr val="bg1"/>
                </a:solidFill>
              </a:rPr>
              <a:t>Nivel: Departamental  (520 departamentos provinciales)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s-419" sz="2000" b="1" noProof="0" dirty="0">
                <a:solidFill>
                  <a:schemeClr val="bg1"/>
                </a:solidFill>
              </a:rPr>
              <a:t>Cobertura temporal: Enero/2015 - Diciembre/2021 (28 trimestres)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s-419" sz="2000" b="1" noProof="0" dirty="0">
                <a:solidFill>
                  <a:schemeClr val="bg1"/>
                </a:solidFill>
              </a:rPr>
              <a:t>Análisis del empleo formal privado.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s-419" sz="2000" b="1" noProof="0" dirty="0">
                <a:solidFill>
                  <a:schemeClr val="bg1"/>
                </a:solidFill>
              </a:rPr>
              <a:t>Análisis de salarios.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s-419" sz="2000" b="1" noProof="0" dirty="0">
                <a:solidFill>
                  <a:schemeClr val="bg1"/>
                </a:solidFill>
              </a:rPr>
              <a:t>La base contiene en total 293.400 filas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indent="-2286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5" descr="Mapa&#10;&#10;El contenido generado por IA puede ser incorrecto.">
            <a:extLst>
              <a:ext uri="{FF2B5EF4-FFF2-40B4-BE49-F238E27FC236}">
                <a16:creationId xmlns:a16="http://schemas.microsoft.com/office/drawing/2014/main" id="{9BA5E991-20CF-6D54-6099-E0EC273803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035" y="292893"/>
            <a:ext cx="3226651" cy="6272214"/>
          </a:xfrm>
          <a:prstGeom prst="rect">
            <a:avLst/>
          </a:prstGeom>
        </p:spPr>
      </p:pic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401F595-7C73-1890-FC59-29F49744C4D6}"/>
              </a:ext>
            </a:extLst>
          </p:cNvPr>
          <p:cNvSpPr txBox="1">
            <a:spLocks/>
          </p:cNvSpPr>
          <p:nvPr/>
        </p:nvSpPr>
        <p:spPr>
          <a:xfrm>
            <a:off x="6443036" y="5143348"/>
            <a:ext cx="4480001" cy="141514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lIns="91440" tIns="45720" rIns="91440" bIns="45720" rtlCol="0" anchor="t">
            <a:normAutofit fontScale="250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28600">
              <a:buFont typeface="Arial" panose="020B0604020202020204" pitchFamily="34" charset="0"/>
              <a:buChar char="•"/>
            </a:pPr>
            <a:r>
              <a:rPr lang="es-ES" sz="8000" b="1" dirty="0">
                <a:solidFill>
                  <a:schemeClr val="bg1"/>
                </a:solidFill>
              </a:rPr>
              <a:t>Merge con la base de datos del Ministerio de Energía: Adjudicaciones de proyectos de energías renovables - Programa RenovAr (Noviembre/2016 – Julio 2019)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s-E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5798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4FFBEE45-F140-49D5-85EA-C78C24340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DF5E2F-DC47-E74A-A8A5-915996EC5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28444"/>
          </a:xfr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r>
              <a:rPr lang="en-US" sz="5200" dirty="0"/>
              <a:t>Preparación de la base de datos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3D2AFF-17CF-12F5-F3EB-AB23F05D21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2398626"/>
            <a:ext cx="4201885" cy="3120431"/>
          </a:xfr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r>
              <a:rPr lang="es-A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Homogeneización de códigos departamentales</a:t>
            </a:r>
          </a:p>
          <a:p>
            <a:endParaRPr lang="es-A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s-A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Variables creadas:</a:t>
            </a:r>
            <a:br>
              <a:rPr lang="es-A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br>
              <a:rPr lang="es-A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s-AR" sz="14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dep_tratado</a:t>
            </a:r>
            <a:r>
              <a:rPr lang="es-A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 Comprende a aquellos departamentos provinciales que recibieron adjudicaciones de proyectos de energías renovables del programa </a:t>
            </a:r>
            <a:r>
              <a:rPr lang="es-AR" sz="14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RenovAr</a:t>
            </a:r>
            <a:r>
              <a:rPr lang="es-A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en alguna de sus rondas (Ronda 1, Ronda 1,5 y Ronda 2)</a:t>
            </a:r>
          </a:p>
          <a:p>
            <a:endParaRPr lang="es-A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indent="0">
              <a:buNone/>
            </a:pPr>
            <a:r>
              <a:rPr lang="es-A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   Trimestre</a:t>
            </a:r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EC597C-618C-3D0D-4069-98FBA8F1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3113" y="2398626"/>
            <a:ext cx="6449443" cy="3342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9435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490452-E66E-F14C-7165-72170C693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8BBDE7D-BF8D-F51D-C2EE-CD2B8AE209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66872A3-202D-1F52-5824-C6C28EDB3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6F8671C-0B31-705C-2FAD-3A50E665D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CE919EA-B7BD-F4E4-FED1-C7768F89B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ED7547B-68BC-E3AB-A548-C12247B10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48EC165-5606-C1E6-C06E-FC87C541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F9031E-9E6D-9F22-9ABA-0A0B09AB4C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E3A718-0D1F-2235-0052-9E8F323379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65" y="740107"/>
            <a:ext cx="3201366" cy="2243523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Variables de </a:t>
            </a:r>
            <a:r>
              <a:rPr lang="en-US" sz="4000" dirty="0" err="1">
                <a:solidFill>
                  <a:srgbClr val="FFFFFF"/>
                </a:solidFill>
              </a:rPr>
              <a:t>interés</a:t>
            </a:r>
            <a:endParaRPr lang="en-US" sz="4000" dirty="0">
              <a:solidFill>
                <a:srgbClr val="FFFFFF"/>
              </a:solidFill>
            </a:endParaRPr>
          </a:p>
        </p:txBody>
      </p:sp>
      <p:graphicFrame>
        <p:nvGraphicFramePr>
          <p:cNvPr id="15" name="Content Placeholder 14">
            <a:extLst>
              <a:ext uri="{FF2B5EF4-FFF2-40B4-BE49-F238E27FC236}">
                <a16:creationId xmlns:a16="http://schemas.microsoft.com/office/drawing/2014/main" id="{51170645-9AD4-33CE-8C77-9BEC7E3F25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7640819"/>
              </p:ext>
            </p:extLst>
          </p:nvPr>
        </p:nvGraphicFramePr>
        <p:xfrm>
          <a:off x="3494315" y="1260735"/>
          <a:ext cx="8501743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2987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0E2A5D-5C27-429B-2CDD-1A0B2B0A3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60881"/>
            <a:ext cx="9795638" cy="111438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dirty="0"/>
              <a:t>Variable clave: </a:t>
            </a:r>
            <a:r>
              <a:rPr lang="en-US" sz="5200" dirty="0" err="1"/>
              <a:t>dep_tratado</a:t>
            </a:r>
            <a:endParaRPr lang="en-US" sz="5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08C96A-1F5C-3A22-9BF8-DB826A819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19" y="2957665"/>
            <a:ext cx="5577291" cy="3346376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B9C8D84-1C30-C4F3-CD52-0F36E1FEB6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82505" y="4189539"/>
            <a:ext cx="5828261" cy="88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545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8EB2E-86D3-FE97-CC6C-30809293A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Exploraciones posibles con las bases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2C06F-DA69-F31D-5B15-60787A7FA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10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264</Words>
  <Application>Microsoft Office PowerPoint</Application>
  <PresentationFormat>Widescreen</PresentationFormat>
  <Paragraphs>33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ADLaM Display</vt:lpstr>
      <vt:lpstr>Aptos</vt:lpstr>
      <vt:lpstr>Aptos Display</vt:lpstr>
      <vt:lpstr>Arial</vt:lpstr>
      <vt:lpstr>Office Theme</vt:lpstr>
      <vt:lpstr>Análisis del empleo asalariado y remuneraciones en Argentina.</vt:lpstr>
      <vt:lpstr>Fuente de la información</vt:lpstr>
      <vt:lpstr>Nivel de la base de datos</vt:lpstr>
      <vt:lpstr>Preparación de la base de datos</vt:lpstr>
      <vt:lpstr>Variables de interés</vt:lpstr>
      <vt:lpstr>Variable clave: dep_tratado</vt:lpstr>
      <vt:lpstr>Exploraciones posibles con las bases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Manuel Meza</dc:creator>
  <cp:lastModifiedBy>Manuel Meza</cp:lastModifiedBy>
  <cp:revision>2</cp:revision>
  <dcterms:created xsi:type="dcterms:W3CDTF">2025-11-04T00:54:48Z</dcterms:created>
  <dcterms:modified xsi:type="dcterms:W3CDTF">2025-11-05T15:10:06Z</dcterms:modified>
</cp:coreProperties>
</file>